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e78321d494b48" /><Relationship Type="http://schemas.openxmlformats.org/officeDocument/2006/relationships/extended-properties" Target="/docProps/app.xml" Id="R469ea6f9809d404f" /><Relationship Type="http://schemas.openxmlformats.org/officeDocument/2006/relationships/officeDocument" Target="/ppt/presentation.xml" Id="Rae4925586ed4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1138eb69014ac8"/>
  </p:sldMasterIdLst>
  <p:notesMasterIdLst>
    <p:notesMasterId xmlns:r="http://schemas.openxmlformats.org/officeDocument/2006/relationships" r:id="Rebd03e51525e4b95"/>
  </p:notesMasterIdLst>
  <p:sldIdLst>
    <p:sldId xmlns:r="http://schemas.openxmlformats.org/officeDocument/2006/relationships" id="256" r:id="Rd2aadd4657524aef"/>
    <p:sldId xmlns:r="http://schemas.openxmlformats.org/officeDocument/2006/relationships" id="257" r:id="R5b2d57a09440454f"/>
    <p:sldId xmlns:r="http://schemas.openxmlformats.org/officeDocument/2006/relationships" id="258" r:id="R22c3a4f61669485c"/>
    <p:sldId xmlns:r="http://schemas.openxmlformats.org/officeDocument/2006/relationships" id="259" r:id="R32b85145929d4072"/>
    <p:sldId xmlns:r="http://schemas.openxmlformats.org/officeDocument/2006/relationships" id="260" r:id="R3cbbe165d48a47b4"/>
    <p:sldId xmlns:r="http://schemas.openxmlformats.org/officeDocument/2006/relationships" id="261" r:id="R8eda03c6d766442e"/>
    <p:sldId xmlns:r="http://schemas.openxmlformats.org/officeDocument/2006/relationships" id="262" r:id="R9fb16a4a21f24adf"/>
    <p:sldId xmlns:r="http://schemas.openxmlformats.org/officeDocument/2006/relationships" id="263" r:id="Re9fb57c05a0549ea"/>
    <p:sldId xmlns:r="http://schemas.openxmlformats.org/officeDocument/2006/relationships" id="264" r:id="Racf2b8804b874b58"/>
    <p:sldId xmlns:r="http://schemas.openxmlformats.org/officeDocument/2006/relationships" id="265" r:id="R7ae2f860806348e6"/>
    <p:sldId xmlns:r="http://schemas.openxmlformats.org/officeDocument/2006/relationships" id="266" r:id="R3a4fb6e1ffd4489d"/>
    <p:sldId xmlns:r="http://schemas.openxmlformats.org/officeDocument/2006/relationships" id="267" r:id="R8fb1fe07be41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b63b77dbd4eed" /><Relationship Type="http://schemas.openxmlformats.org/officeDocument/2006/relationships/slideMaster" Target="/ppt/slideMasters/slideMaster1.xml" Id="R3e1138eb69014ac8" /><Relationship Type="http://schemas.openxmlformats.org/officeDocument/2006/relationships/notesMaster" Target="/ppt/notesMasters/notesMaster1.xml" Id="Rebd03e51525e4b95" /><Relationship Type="http://schemas.openxmlformats.org/officeDocument/2006/relationships/presProps" Target="/ppt/presProps.xml" Id="Ra410d48c9ee349bb" /><Relationship Type="http://schemas.openxmlformats.org/officeDocument/2006/relationships/tableStyles" Target="/ppt/tableStyles.xml" Id="Rc7242d67abb144f1" /><Relationship Type="http://schemas.openxmlformats.org/officeDocument/2006/relationships/slide" Target="/ppt/slides/slide1.xml" Id="Rd2aadd4657524aef" /><Relationship Type="http://schemas.openxmlformats.org/officeDocument/2006/relationships/slide" Target="/ppt/slides/slide2.xml" Id="R5b2d57a09440454f" /><Relationship Type="http://schemas.openxmlformats.org/officeDocument/2006/relationships/slide" Target="/ppt/slides/slide3.xml" Id="R22c3a4f61669485c" /><Relationship Type="http://schemas.openxmlformats.org/officeDocument/2006/relationships/slide" Target="/ppt/slides/slide4.xml" Id="R32b85145929d4072" /><Relationship Type="http://schemas.openxmlformats.org/officeDocument/2006/relationships/slide" Target="/ppt/slides/slide5.xml" Id="R3cbbe165d48a47b4" /><Relationship Type="http://schemas.openxmlformats.org/officeDocument/2006/relationships/slide" Target="/ppt/slides/slide6.xml" Id="R8eda03c6d766442e" /><Relationship Type="http://schemas.openxmlformats.org/officeDocument/2006/relationships/slide" Target="/ppt/slides/slide7.xml" Id="R9fb16a4a21f24adf" /><Relationship Type="http://schemas.openxmlformats.org/officeDocument/2006/relationships/slide" Target="/ppt/slides/slide8.xml" Id="Re9fb57c05a0549ea" /><Relationship Type="http://schemas.openxmlformats.org/officeDocument/2006/relationships/slide" Target="/ppt/slides/slide9.xml" Id="Racf2b8804b874b58" /><Relationship Type="http://schemas.openxmlformats.org/officeDocument/2006/relationships/slide" Target="/ppt/slides/slide10.xml" Id="R7ae2f860806348e6" /><Relationship Type="http://schemas.openxmlformats.org/officeDocument/2006/relationships/slide" Target="/ppt/slides/slide11.xml" Id="R3a4fb6e1ffd4489d" /><Relationship Type="http://schemas.openxmlformats.org/officeDocument/2006/relationships/slide" Target="/ppt/slides/slide12.xml" Id="R8fb1fe07be41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8d2ccece91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f4634cd5cc4350" /><Relationship Type="http://schemas.openxmlformats.org/officeDocument/2006/relationships/notesMaster" Target="/ppt/notesMasters/notesMaster1.xml" Id="R51172cd6c241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857ccc1e24918" /><Relationship Type="http://schemas.openxmlformats.org/officeDocument/2006/relationships/notesMaster" Target="/ppt/notesMasters/notesMaster1.xml" Id="R4d312f301e3648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7a122075146c8" /><Relationship Type="http://schemas.openxmlformats.org/officeDocument/2006/relationships/notesMaster" Target="/ppt/notesMasters/notesMaster1.xml" Id="R18a6b4b9e8354f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81a38eed3143a2" /><Relationship Type="http://schemas.openxmlformats.org/officeDocument/2006/relationships/notesMaster" Target="/ppt/notesMasters/notesMaster1.xml" Id="R0f332a6c6a82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3b341be4574908" /><Relationship Type="http://schemas.openxmlformats.org/officeDocument/2006/relationships/notesMaster" Target="/ppt/notesMasters/notesMaster1.xml" Id="Re289daac060647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d5262958314330" /><Relationship Type="http://schemas.openxmlformats.org/officeDocument/2006/relationships/notesMaster" Target="/ppt/notesMasters/notesMaster1.xml" Id="R0bc05f21c0c84d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da1b0a38294326" /><Relationship Type="http://schemas.openxmlformats.org/officeDocument/2006/relationships/notesMaster" Target="/ppt/notesMasters/notesMaster1.xml" Id="Rbdf281ff0e544b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bf87fbd57a4aa6" /><Relationship Type="http://schemas.openxmlformats.org/officeDocument/2006/relationships/notesMaster" Target="/ppt/notesMasters/notesMaster1.xml" Id="Rb11aa60259e046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93b30e28ac4f38" /><Relationship Type="http://schemas.openxmlformats.org/officeDocument/2006/relationships/notesMaster" Target="/ppt/notesMasters/notesMaster1.xml" Id="Ra13530aff12f4d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19986eb57f4ea9" /><Relationship Type="http://schemas.openxmlformats.org/officeDocument/2006/relationships/notesMaster" Target="/ppt/notesMasters/notesMaster1.xml" Id="Rd42ba708bdab49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e2a777c08d46d1" /><Relationship Type="http://schemas.openxmlformats.org/officeDocument/2006/relationships/notesMaster" Target="/ppt/notesMasters/notesMaster1.xml" Id="Rf1bda4cb04f34a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1723bd07a46e4" /><Relationship Type="http://schemas.openxmlformats.org/officeDocument/2006/relationships/notesMaster" Target="/ppt/notesMasters/notesMaster1.xml" Id="R5c581b1faaac48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YouNew is shown as a working multi-surface ecosystem and release candidate.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live page screenshot captured 2026-07-30.</a:t>
            </a:r>
          </a:p>
          <a:p xmlns:a="http://schemas.openxmlformats.org/drawingml/2006/main">
            <a:r>
              <a:t>- /Users/ivan/Desktop/Developer:YouNew/YouNew/release-artifacts/presentation-2026-07-30/assets/web-home.png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live public website capture.</a:t>
            </a:r>
          </a:p>
          <a:p xmlns:a="http://schemas.openxmlformats.org/drawingml/2006/main">
            <a:r>
              <a:t>- https://admin.younew.nl/dashboard — authenticated Admin capture.</a:t>
            </a:r>
          </a:p>
          <a:p xmlns:a="http://schemas.openxmlformats.org/drawingml/2006/main">
            <a:r>
              <a:t>- https://younew.nl/images/app-home-nl.webp — current published app UI asset.</a:t>
            </a:r>
          </a:p>
          <a:p xmlns:a="http://schemas.openxmlformats.org/drawingml/2006/main">
            <a:r>
              <a:t>- /Users/ivan/Applications/YouNew Workspace.app — local workspace capture.</a:t>
            </a:r>
          </a:p>
          <a:p xmlns:a="http://schemas.openxmlformats.org/drawingml/2006/main">
            <a:r>
              <a:t>- Xcode local workspace — local engineering surface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captured 2026-07-30.</a:t>
            </a:r>
          </a:p>
          <a:p xmlns:a="http://schemas.openxmlformats.org/drawingml/2006/main">
            <a:r>
              <a:t>- /Users/ivan/Desktop/Developer:YouNew/YouNew/release-artifacts/presentation-2026-07-30/assets/web-home.png</a:t>
            </a:r>
          </a:p>
          <a:p xmlns:a="http://schemas.openxmlformats.org/drawingml/2006/main">
            <a:r>
              <a:t>- /Users/ivan/Desktop/Developer:YouNew/YouNew/release-artifacts/presentation-2026-07-30/../sale-readiness-2026-07-30/verification-summary.json — 585 routes, 575 indexable URLs, 186 published records and 83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standalone app screens are current published UI assets, not screenshots from the blocked Simulator installation 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https://apps.apple.com/app/id6782617312 — public listing captured 2026-07-30.</a:t>
            </a:r>
          </a:p>
          <a:p xmlns:a="http://schemas.openxmlformats.org/drawingml/2006/main">
            <a:r>
              <a:t>- https://younew.nl/images/app-home-nl.webp — published current iPhone UI asset.</a:t>
            </a:r>
          </a:p>
          <a:p xmlns:a="http://schemas.openxmlformats.org/drawingml/2006/main">
            <a:r>
              <a:t>- https://younew.nl/images/app-map-en.webp — published current iPhone UI asset.</a:t>
            </a:r>
          </a:p>
          <a:p xmlns:a="http://schemas.openxmlformats.org/drawingml/2006/main">
            <a:r>
              <a:t>- /Users/ivan/Desktop/Developer:YouNew/YouNew/release-artifacts/presentation-2026-07-30/../sale-readiness-2026-07-30/verification-summary.json — unsigned generic-device Release BUILD SUCCEEDED.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live How it works section captured 2026-07-30.</a:t>
            </a:r>
          </a:p>
          <a:p xmlns:a="http://schemas.openxmlformats.org/drawingml/2006/main">
            <a:r>
              <a:t>- /Users/ivan/Desktop/Developer:YouNew/YouNew/release-artifacts/presentation-2026-07-30/assets/web-home-features.png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https://younew.nl/map/ — live map page captured 2026-07-30; visible page reports 342 municipalities and 171 located published items.</a:t>
            </a:r>
          </a:p>
          <a:p xmlns:a="http://schemas.openxmlformats.org/drawingml/2006/main">
            <a:r>
              <a:t>- https://younew.nl/images/app-map-en.webp — published iPhone map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https://admin.younew.nl/dashboard — authenticated live capture 2026-07-30.</a:t>
            </a:r>
          </a:p>
          <a:p xmlns:a="http://schemas.openxmlformats.org/drawingml/2006/main">
            <a:r>
              <a:t>- /Users/ivan/Desktop/Developer:YouNew/YouNew/release-artifacts/presentation-2026-07-30/assets/admin-dashboard.png</a:t>
            </a:r>
          </a:p>
          <a:p xmlns:a="http://schemas.openxmlformats.org/drawingml/2006/main">
            <a:r>
              <a:t>- /Users/ivan/Desktop/Developer:YouNew/YouNew/release-artifacts/presentation-2026-07-30/../sale-readiness-2026-07-30/verification-summary.json — Admin lint, typecheck, 10 tests and production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/Users/ivan/Applications/YouNew Workspace.app — Overview screen captured 2026-07-30.</a:t>
            </a:r>
          </a:p>
          <a:p xmlns:a="http://schemas.openxmlformats.org/drawingml/2006/main">
            <a:r>
              <a:t>- Xcode local workspace — real code and successful build surface captured 2026-07-30.</a:t>
            </a:r>
          </a:p>
          <a:p xmlns:a="http://schemas.openxmlformats.org/drawingml/2006/main">
            <a:r>
              <a:t>- /Users/ivan/Desktop/Developer:YouNew/YouNew/release-artifacts/presentation-2026-07-30/assets/workspace-overview.png</a:t>
            </a:r>
          </a:p>
          <a:p xmlns:a="http://schemas.openxmlformats.org/drawingml/2006/main">
            <a:r>
              <a:t>- /Users/ivan/Desktop/Developer:YouNew/YouNew/release-artifacts/presentation-2026-07-30/assets/xcode-project.png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PowerPoint shapes illustrate the verified system boundaries. The diagram is intentionally simplified for a product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/Users/ivan/Desktop/Developer:YouNew/YouNew/docs/SYSTEM_MAP.md — component and data-flow source.</a:t>
            </a:r>
          </a:p>
          <a:p xmlns:a="http://schemas.openxmlformats.org/drawingml/2006/main">
            <a:r>
              <a:t>- /Users/ivan/Desktop/Developer:YouNew/YouNew/docs/COUNTRY_PACK_CONTRACT.md — governed expansion contract.</a:t>
            </a:r>
          </a:p>
          <a:p xmlns:a="http://schemas.openxmlformats.org/drawingml/2006/main">
            <a:r>
              <a:t>- /Users/ivan/Desktop/Developer:YouNew/YouNew/docs/COMPLIANCE_CONTROL_MATRIX.md — trust and release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106 is the sum of 83 public web tests, 10 admin tests and 13 backend AI proxy tests; iOS tests are not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/Users/ivan/Desktop/Developer:YouNew/YouNew/release-artifacts/presentation-2026-07-30/../sale-readiness-2026-07-30/verification-summary.json — 450 governed, 186 published, 97.8% freshness, 170 inventoried assets and passing tests.</a:t>
            </a:r>
          </a:p>
          <a:p xmlns:a="http://schemas.openxmlformats.org/drawingml/2006/main">
            <a:r>
              <a:t>- /Users/ivan/Desktop/Developer:YouNew/YouNew/RELEASE_READINESS_2026-07-30.md — release checks and bounded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deliberately distinguishes working product readiness from unconditional release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/Users/ivan/Desktop/Developer:YouNew/YouNew/release-artifacts/presentation-2026-07-30/../sale-readiness-2026-07-30/verification-summary.json — decision and component evidence.</a:t>
            </a:r>
          </a:p>
          <a:p xmlns:a="http://schemas.openxmlformats.org/drawingml/2006/main">
            <a:r>
              <a:t>- /Users/ivan/Desktop/Developer:YouNew/YouNew/RELEASE_READINESS_2026-07-30.md — open release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live page screenshot captured 2026-07-30.</a:t>
            </a:r>
          </a:p>
          <a:p xmlns:a="http://schemas.openxmlformats.org/drawingml/2006/main">
            <a:r>
              <a:t>- /Users/ivan/Desktop/Developer:YouNew/YouNew/docs/COUNTRY_PACK_CONTRACT.md — repeatable expansion boundary.</a:t>
            </a:r>
          </a:p>
          <a:p xmlns:a="http://schemas.openxmlformats.org/drawingml/2006/main">
            <a:r>
              <a:t>- /Users/ivan/Desktop/Developer:YouNew/YouNew/RELEASE_READINESS_2026-07-30.md — highest-value remaining release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ce5c617fa44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dfa9f28f947c2" /><Relationship Type="http://schemas.openxmlformats.org/officeDocument/2006/relationships/slideLayout" Target="/ppt/slideLayouts/slideLayout1.xml" Id="R591d8e957aba47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d8e957aba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625be4c204e7b" /><Relationship Type="http://schemas.openxmlformats.org/officeDocument/2006/relationships/image" Target="/ppt/media/image.png" Id="R66cbfa492c9a4ea0" /><Relationship Type="http://schemas.openxmlformats.org/officeDocument/2006/relationships/image" Target="/ppt/media/image.jpeg" Id="R8a46aea80c9a4c71" /><Relationship Type="http://schemas.openxmlformats.org/officeDocument/2006/relationships/notesSlide" Target="/ppt/notesSlides/notesSlide1.xml" Id="R0052276056704e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5d557a09442ec" /><Relationship Type="http://schemas.openxmlformats.org/officeDocument/2006/relationships/image" Target="/ppt/media/image2.png" Id="R8a719b3757214083" /><Relationship Type="http://schemas.openxmlformats.org/officeDocument/2006/relationships/image" Target="/ppt/media/image2.jpeg" Id="R251c23794fc44fd0" /><Relationship Type="http://schemas.openxmlformats.org/officeDocument/2006/relationships/image" Target="/ppt/media/image3.jpeg" Id="Rce322df6e3a24f70" /><Relationship Type="http://schemas.openxmlformats.org/officeDocument/2006/relationships/image" Target="/ppt/media/image4.jpeg" Id="Rc35a7cc273184d41" /><Relationship Type="http://schemas.openxmlformats.org/officeDocument/2006/relationships/image" Target="/ppt/media/image5.jpeg" Id="R1a9ed90f55da434e" /><Relationship Type="http://schemas.openxmlformats.org/officeDocument/2006/relationships/notesSlide" Target="/ppt/notesSlides/notesSlide2.xml" Id="R3f8ba763fda0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0d8ccbd344c6" /><Relationship Type="http://schemas.openxmlformats.org/officeDocument/2006/relationships/image" Target="/ppt/media/image6.jpeg" Id="R53319f7e27ae41a7" /><Relationship Type="http://schemas.openxmlformats.org/officeDocument/2006/relationships/notesSlide" Target="/ppt/notesSlides/notesSlide3.xml" Id="Rf5f3aac2afe54f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8074a2fe84233" /><Relationship Type="http://schemas.openxmlformats.org/officeDocument/2006/relationships/image" Target="/ppt/media/image7.jpeg" Id="Reb45f940cb38486f" /><Relationship Type="http://schemas.openxmlformats.org/officeDocument/2006/relationships/image" Target="/ppt/media/image3.png" Id="Ra69dfbb428794eec" /><Relationship Type="http://schemas.openxmlformats.org/officeDocument/2006/relationships/image" Target="/ppt/media/image4.png" Id="R8bc2822f98d2494d" /><Relationship Type="http://schemas.openxmlformats.org/officeDocument/2006/relationships/notesSlide" Target="/ppt/notesSlides/notesSlide4.xml" Id="R1cf2fd83dd2445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9b1e0325460f" /><Relationship Type="http://schemas.openxmlformats.org/officeDocument/2006/relationships/image" Target="/ppt/media/image8.jpeg" Id="Rfa99567ecc6d467f" /><Relationship Type="http://schemas.openxmlformats.org/officeDocument/2006/relationships/notesSlide" Target="/ppt/notesSlides/notesSlide5.xml" Id="R55bdab846b5e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e4c48d8a1487a" /><Relationship Type="http://schemas.openxmlformats.org/officeDocument/2006/relationships/image" Target="/ppt/media/image9.jpeg" Id="Rcf7b0b76650549d4" /><Relationship Type="http://schemas.openxmlformats.org/officeDocument/2006/relationships/image" Target="/ppt/media/image5.png" Id="Ra2503ee0c0044364" /><Relationship Type="http://schemas.openxmlformats.org/officeDocument/2006/relationships/notesSlide" Target="/ppt/notesSlides/notesSlide6.xml" Id="R8e489ebd97b043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0a08cd0ac4565" /><Relationship Type="http://schemas.openxmlformats.org/officeDocument/2006/relationships/image" Target="/ppt/media/image10.jpeg" Id="Rdba126d115bf4fb2" /><Relationship Type="http://schemas.openxmlformats.org/officeDocument/2006/relationships/notesSlide" Target="/ppt/notesSlides/notesSlide7.xml" Id="Rd67f60c0a42d4d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e21af44e842c1" /><Relationship Type="http://schemas.openxmlformats.org/officeDocument/2006/relationships/image" Target="/ppt/media/image11.jpeg" Id="Rc95beecffba04a89" /><Relationship Type="http://schemas.openxmlformats.org/officeDocument/2006/relationships/image" Target="/ppt/media/image12.jpeg" Id="R4042486dfb48426c" /><Relationship Type="http://schemas.openxmlformats.org/officeDocument/2006/relationships/notesSlide" Target="/ppt/notesSlides/notesSlide8.xml" Id="R3377f08e719443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7d017546c4527" /><Relationship Type="http://schemas.openxmlformats.org/officeDocument/2006/relationships/notesSlide" Target="/ppt/notesSlides/notesSlide9.xml" Id="Rf49a29b66ce6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9ab40216a44d5" /><Relationship Type="http://schemas.openxmlformats.org/officeDocument/2006/relationships/notesSlide" Target="/ppt/notesSlides/notesSlide10.xml" Id="R27db6409f6bf4e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811dfa2643bd" /><Relationship Type="http://schemas.openxmlformats.org/officeDocument/2006/relationships/notesSlide" Target="/ppt/notesSlides/notesSlide11.xml" Id="R0d0a1c2357d946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fa824802c406a" /><Relationship Type="http://schemas.openxmlformats.org/officeDocument/2006/relationships/image" Target="/ppt/media/image13.jpeg" Id="R6eb438c2f9634f19" /><Relationship Type="http://schemas.openxmlformats.org/officeDocument/2006/relationships/notesSlide" Target="/ppt/notesSlides/notesSlide12.xml" Id="R7b0ebbc271ad41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bfa492c9a4ea0"/>
          <a:srcRect xmlns:a="http://schemas.openxmlformats.org/drawingml/2006/main" l="0" t="26903" r="0" b="26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82475" y="6848475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6aea80c9a4c71"/>
          <a:srcRect xmlns:a="http://schemas.openxmlformats.org/drawingml/2006/main" l="23281" t="0" r="232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0"/>
            <a:ext cx="65151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607F5AFA-A7EF-404D-91F3-0D0BD17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6"/>
          </a:solidFill>
          <a:ln xmlns:a="http://schemas.openxmlformats.org/drawingml/2006/main" w="0">
            <a:solidFill>
              <a:srgbClr val="080B16"/>
            </a:solidFill>
            <a:prstDash val="solid"/>
          </a:ln>
        </p:spPr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72A44786-8805-4873-8ADB-AA3475D9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YouNew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E79C410-5522-4B90-9B05-D95F25C0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 working</a:t>
            </a:r>
          </a:p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ecosystem for a</a:t>
            </a:r>
          </a:p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clearer start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CF6670E-DDD0-4369-BC46-972CCE51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iOS · Web · Admin · Supabase · AI · Workspace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D63F02-4180-45D7-B647-431216B5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8" name="cover-posture">
            <a:extLst xmlns:a="http://schemas.openxmlformats.org/drawingml/2006/main">
              <a:ext uri="{FF2B5EF4-FFF2-40B4-BE49-F238E27FC236}">
                <a16:creationId xmlns:a16="http://schemas.microsoft.com/office/drawing/2014/main" id="{97B257A0-EF6D-4FA8-8AC4-6FDC303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Product showcase · Release candidate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4741C-DC94-4CA4-BC5A-85CF4B0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859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859C"/>
                </a:solidFill>
                <a:latin typeface="Aptos"/>
                <a:ea typeface="Aptos"/>
                <a:cs typeface="Aptos"/>
              </a:rPr>
              <a:t>30 July 2026 · Netherlands</a:t>
            </a:r>
          </a:p>
        </p:txBody>
      </p:sp>
    </p:spTree>
    <p:extLst>
      <p:ext uri="{BB962C8B-B14F-4D97-AF65-F5344CB8AC3E}">
        <p14:creationId xmlns:p14="http://schemas.microsoft.com/office/powerpoint/2010/main" val="1061097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One connected product">
            <a:extLst xmlns:a="http://schemas.openxmlformats.org/drawingml/2006/main">
              <a:ext uri="{FF2B5EF4-FFF2-40B4-BE49-F238E27FC236}">
                <a16:creationId xmlns:a16="http://schemas.microsoft.com/office/drawing/2014/main" id="{7664DBC8-CCBB-443F-B0E2-4509A491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ONE CONNECTED PRODUCT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C8276900-969D-4B63-98F1-C2711BB5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Every surface serves the same product system</a:t>
            </a:r>
          </a:p>
        </p:txBody>
      </p:sp>
      <p:sp>
        <p:nvSpPr>
          <p:cNvPr id="3" name="s2-system-line">
            <a:extLst xmlns:a="http://schemas.openxmlformats.org/drawingml/2006/main">
              <a:ext uri="{FF2B5EF4-FFF2-40B4-BE49-F238E27FC236}">
                <a16:creationId xmlns:a16="http://schemas.microsoft.com/office/drawing/2014/main" id="{BED8968C-A378-41F7-B969-50A04F2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4" name="s2-app-frame">
            <a:extLst xmlns:a="http://schemas.openxmlformats.org/drawingml/2006/main">
              <a:ext uri="{FF2B5EF4-FFF2-40B4-BE49-F238E27FC236}">
                <a16:creationId xmlns:a16="http://schemas.microsoft.com/office/drawing/2014/main" id="{E32ED523-550B-437A-BC70-D729573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90675"/>
            <a:ext cx="1905000" cy="401955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19b3757214083"/>
          <a:srcRect xmlns:a="http://schemas.openxmlformats.org/drawingml/2006/main" l="84" t="0" r="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638300"/>
            <a:ext cx="1809750" cy="3924300"/>
          </a:xfrm>
          <a:prstGeom xmlns:a="http://schemas.openxmlformats.org/drawingml/2006/main" prst="roundRect">
            <a:avLst>
              <a:gd name="adj" fmla="val 9474"/>
            </a:avLst>
          </a:prstGeom>
        </p:spPr>
      </p:pic>
      <p:sp>
        <p:nvSpPr>
          <p:cNvPr id="6" name="s2-web-frame">
            <a:extLst xmlns:a="http://schemas.openxmlformats.org/drawingml/2006/main">
              <a:ext uri="{FF2B5EF4-FFF2-40B4-BE49-F238E27FC236}">
                <a16:creationId xmlns:a16="http://schemas.microsoft.com/office/drawing/2014/main" id="{97003BDC-DF67-48F5-B717-4302C88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90675"/>
            <a:ext cx="4000500" cy="23050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23794fc44fd0"/>
          <a:srcRect xmlns:a="http://schemas.openxmlformats.org/drawingml/2006/main" l="296" t="0" r="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9400" y="1638300"/>
            <a:ext cx="3905250" cy="2209800"/>
          </a:xfrm>
          <a:prstGeom xmlns:a="http://schemas.openxmlformats.org/drawingml/2006/main" prst="roundRect">
            <a:avLst>
              <a:gd name="adj" fmla="val 7759"/>
            </a:avLst>
          </a:prstGeom>
        </p:spPr>
      </p:pic>
      <p:sp>
        <p:nvSpPr>
          <p:cNvPr id="8" name="s2-admin-frame">
            <a:extLst xmlns:a="http://schemas.openxmlformats.org/drawingml/2006/main">
              <a:ext uri="{FF2B5EF4-FFF2-40B4-BE49-F238E27FC236}">
                <a16:creationId xmlns:a16="http://schemas.microsoft.com/office/drawing/2014/main" id="{44BF8BA5-ACEE-47E7-829C-C5D0048E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86225"/>
            <a:ext cx="40005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22df6e3a24f70"/>
          <a:srcRect xmlns:a="http://schemas.openxmlformats.org/drawingml/2006/main" l="0" t="17480" r="0" b="17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9400" y="4133850"/>
            <a:ext cx="3905250" cy="142875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10" name="s2-workspace-frame">
            <a:extLst xmlns:a="http://schemas.openxmlformats.org/drawingml/2006/main">
              <a:ext uri="{FF2B5EF4-FFF2-40B4-BE49-F238E27FC236}">
                <a16:creationId xmlns:a16="http://schemas.microsoft.com/office/drawing/2014/main" id="{371F83E9-EC60-4799-9DD0-64B368A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90675"/>
            <a:ext cx="2343150" cy="2343150"/>
          </a:xfrm>
          <a:prstGeom xmlns:a="http://schemas.openxmlformats.org/drawingml/2006/main" prst="roundRect">
            <a:avLst>
              <a:gd name="adj" fmla="val 894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a7cc273184d41"/>
          <a:srcRect xmlns:a="http://schemas.openxmlformats.org/drawingml/2006/main" l="1819" t="0" r="1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638300"/>
            <a:ext cx="2247900" cy="2247900"/>
          </a:xfrm>
          <a:prstGeom xmlns:a="http://schemas.openxmlformats.org/drawingml/2006/main" prst="roundRect">
            <a:avLst>
              <a:gd name="adj" fmla="val 7627"/>
            </a:avLst>
          </a:prstGeom>
        </p:spPr>
      </p:pic>
      <p:sp>
        <p:nvSpPr>
          <p:cNvPr id="12" name="s2-code-frame">
            <a:extLst xmlns:a="http://schemas.openxmlformats.org/drawingml/2006/main">
              <a:ext uri="{FF2B5EF4-FFF2-40B4-BE49-F238E27FC236}">
                <a16:creationId xmlns:a16="http://schemas.microsoft.com/office/drawing/2014/main" id="{23970577-E7DA-40C7-97D4-A310E200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24325"/>
            <a:ext cx="4191000" cy="148590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ed90f55da434e"/>
          <a:srcRect xmlns:a="http://schemas.openxmlformats.org/drawingml/2006/main" l="0" t="22391" r="0" b="22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4171950"/>
            <a:ext cx="4095750" cy="1390650"/>
          </a:xfrm>
          <a:prstGeom xmlns:a="http://schemas.openxmlformats.org/drawingml/2006/main" prst="roundRect">
            <a:avLst>
              <a:gd name="adj" fmla="val 12329"/>
            </a:avLst>
          </a:prstGeom>
        </p:spPr>
      </p:pic>
      <p:sp>
        <p:nvSpPr>
          <p:cNvPr id="14" name="s2-app-label">
            <a:extLst xmlns:a="http://schemas.openxmlformats.org/drawingml/2006/main">
              <a:ext uri="{FF2B5EF4-FFF2-40B4-BE49-F238E27FC236}">
                <a16:creationId xmlns:a16="http://schemas.microsoft.com/office/drawing/2014/main" id="{6F5454C0-C141-4981-8725-C821AA38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iOS</a:t>
            </a:r>
          </a:p>
        </p:txBody>
      </p:sp>
      <p:sp>
        <p:nvSpPr>
          <p:cNvPr id="15" name="s2-web-label">
            <a:extLst xmlns:a="http://schemas.openxmlformats.org/drawingml/2006/main">
              <a:ext uri="{FF2B5EF4-FFF2-40B4-BE49-F238E27FC236}">
                <a16:creationId xmlns:a16="http://schemas.microsoft.com/office/drawing/2014/main" id="{845F5233-1D79-4206-B420-B356C1A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05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Public Web + Admin</a:t>
            </a:r>
          </a:p>
        </p:txBody>
      </p:sp>
      <p:sp>
        <p:nvSpPr>
          <p:cNvPr id="16" name="s2-ops-label">
            <a:extLst xmlns:a="http://schemas.openxmlformats.org/drawingml/2006/main">
              <a:ext uri="{FF2B5EF4-FFF2-40B4-BE49-F238E27FC236}">
                <a16:creationId xmlns:a16="http://schemas.microsoft.com/office/drawing/2014/main" id="{E244A27A-77D5-4A11-9EF7-93329B21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Workspace + Engineering</a:t>
            </a:r>
          </a:p>
        </p:txBody>
      </p:sp>
      <p:sp>
        <p:nvSpPr>
          <p:cNvPr id="1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FB1EB6DD-F074-431D-A506-E2261E8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1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6A75C23-B9B3-4CDB-923F-732104C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0270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Public product">
            <a:extLst xmlns:a="http://schemas.openxmlformats.org/drawingml/2006/main">
              <a:ext uri="{FF2B5EF4-FFF2-40B4-BE49-F238E27FC236}">
                <a16:creationId xmlns:a16="http://schemas.microsoft.com/office/drawing/2014/main" id="{F628630A-1915-4896-BA71-B3B2E60B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PUBLIC PRODUCT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EF6E927D-0821-43FB-B9F5-DE85682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306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The web product is live, discoverable and usable</a:t>
            </a:r>
          </a:p>
        </p:txBody>
      </p:sp>
      <p:sp>
        <p:nvSpPr>
          <p:cNvPr id="3" name="s3-web-home-frame">
            <a:extLst xmlns:a="http://schemas.openxmlformats.org/drawingml/2006/main">
              <a:ext uri="{FF2B5EF4-FFF2-40B4-BE49-F238E27FC236}">
                <a16:creationId xmlns:a16="http://schemas.microsoft.com/office/drawing/2014/main" id="{E153E3B5-212E-4D07-8030-852B1438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14475"/>
            <a:ext cx="6724650" cy="3829050"/>
          </a:xfrm>
          <a:prstGeom xmlns:a="http://schemas.openxmlformats.org/drawingml/2006/main" prst="roundRect">
            <a:avLst>
              <a:gd name="adj" fmla="val 547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19f7e27ae41a7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562100"/>
            <a:ext cx="6629400" cy="3733800"/>
          </a:xfrm>
          <a:prstGeom xmlns:a="http://schemas.openxmlformats.org/drawingml/2006/main" prst="roundRect">
            <a:avLst>
              <a:gd name="adj" fmla="val 4592"/>
            </a:avLst>
          </a:prstGeom>
        </p:spPr>
      </p:pic>
      <p:sp>
        <p:nvSpPr>
          <p:cNvPr id="5" name="s3-copy">
            <a:extLst xmlns:a="http://schemas.openxmlformats.org/drawingml/2006/main">
              <a:ext uri="{FF2B5EF4-FFF2-40B4-BE49-F238E27FC236}">
                <a16:creationId xmlns:a16="http://schemas.microsoft.com/office/drawing/2014/main" id="{4F147799-F404-4037-9BB0-6827235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790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 source-backed companion for newcomers in the Netherlands — with search, profiles, guides, cities, organizations, maps, saved content and emergency routes.</a:t>
            </a:r>
          </a:p>
        </p:txBody>
      </p:sp>
      <p:sp>
        <p:nvSpPr>
          <p:cNvPr id="6" name="s3-routes-value">
            <a:extLst xmlns:a="http://schemas.openxmlformats.org/drawingml/2006/main">
              <a:ext uri="{FF2B5EF4-FFF2-40B4-BE49-F238E27FC236}">
                <a16:creationId xmlns:a16="http://schemas.microsoft.com/office/drawing/2014/main" id="{E0BE3BCD-73D7-4288-90FE-FE36D9B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585</a:t>
            </a:r>
          </a:p>
        </p:txBody>
      </p:sp>
      <p:sp>
        <p:nvSpPr>
          <p:cNvPr id="7" name="s3-routes-rule">
            <a:extLst xmlns:a="http://schemas.openxmlformats.org/drawingml/2006/main">
              <a:ext uri="{FF2B5EF4-FFF2-40B4-BE49-F238E27FC236}">
                <a16:creationId xmlns:a16="http://schemas.microsoft.com/office/drawing/2014/main" id="{5E6105C2-1456-4746-9EAE-AB2DBDB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8" name="s3-routes-label">
            <a:extLst xmlns:a="http://schemas.openxmlformats.org/drawingml/2006/main">
              <a:ext uri="{FF2B5EF4-FFF2-40B4-BE49-F238E27FC236}">
                <a16:creationId xmlns:a16="http://schemas.microsoft.com/office/drawing/2014/main" id="{C4D9A9EE-E23D-4F92-998B-2B082AC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static routes</a:t>
            </a:r>
          </a:p>
        </p:txBody>
      </p:sp>
      <p:sp>
        <p:nvSpPr>
          <p:cNvPr id="9" name="s3-index-value">
            <a:extLst xmlns:a="http://schemas.openxmlformats.org/drawingml/2006/main">
              <a:ext uri="{FF2B5EF4-FFF2-40B4-BE49-F238E27FC236}">
                <a16:creationId xmlns:a16="http://schemas.microsoft.com/office/drawing/2014/main" id="{271E5EEE-732B-4BD8-BA4A-87A4517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052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575</a:t>
            </a:r>
          </a:p>
        </p:txBody>
      </p:sp>
      <p:sp>
        <p:nvSpPr>
          <p:cNvPr id="10" name="s3-index-rule">
            <a:extLst xmlns:a="http://schemas.openxmlformats.org/drawingml/2006/main">
              <a:ext uri="{FF2B5EF4-FFF2-40B4-BE49-F238E27FC236}">
                <a16:creationId xmlns:a16="http://schemas.microsoft.com/office/drawing/2014/main" id="{054711F7-7381-445F-9883-9DF38B2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48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11" name="s3-index-label">
            <a:extLst xmlns:a="http://schemas.openxmlformats.org/drawingml/2006/main">
              <a:ext uri="{FF2B5EF4-FFF2-40B4-BE49-F238E27FC236}">
                <a16:creationId xmlns:a16="http://schemas.microsoft.com/office/drawing/2014/main" id="{7AEAF726-E602-4D67-8E4C-6560CE2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indexable URLs</a:t>
            </a:r>
          </a:p>
        </p:txBody>
      </p:sp>
      <p:sp>
        <p:nvSpPr>
          <p:cNvPr id="12" name="s3-published-value">
            <a:extLst xmlns:a="http://schemas.openxmlformats.org/drawingml/2006/main">
              <a:ext uri="{FF2B5EF4-FFF2-40B4-BE49-F238E27FC236}">
                <a16:creationId xmlns:a16="http://schemas.microsoft.com/office/drawing/2014/main" id="{0C63CBE8-AECB-4A9D-9128-265BEDBC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186</a:t>
            </a:r>
          </a:p>
        </p:txBody>
      </p:sp>
      <p:sp>
        <p:nvSpPr>
          <p:cNvPr id="13" name="s3-published-rule">
            <a:extLst xmlns:a="http://schemas.openxmlformats.org/drawingml/2006/main">
              <a:ext uri="{FF2B5EF4-FFF2-40B4-BE49-F238E27FC236}">
                <a16:creationId xmlns:a16="http://schemas.microsoft.com/office/drawing/2014/main" id="{6C84FD50-0D65-4DAA-9BC7-7B126CA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58B"/>
          </a:solidFill>
          <a:ln xmlns:a="http://schemas.openxmlformats.org/drawingml/2006/main" w="0">
            <a:solidFill>
              <a:srgbClr val="3FD58B"/>
            </a:solidFill>
            <a:prstDash val="solid"/>
          </a:ln>
        </p:spPr>
      </p:sp>
      <p:sp>
        <p:nvSpPr>
          <p:cNvPr id="14" name="s3-published-label">
            <a:extLst xmlns:a="http://schemas.openxmlformats.org/drawingml/2006/main">
              <a:ext uri="{FF2B5EF4-FFF2-40B4-BE49-F238E27FC236}">
                <a16:creationId xmlns:a16="http://schemas.microsoft.com/office/drawing/2014/main" id="{FCB701DA-0250-4269-AA2F-237113B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published records</a:t>
            </a:r>
          </a:p>
        </p:txBody>
      </p:sp>
      <p:sp>
        <p:nvSpPr>
          <p:cNvPr id="15" name="s3-proof">
            <a:extLst xmlns:a="http://schemas.openxmlformats.org/drawingml/2006/main">
              <a:ext uri="{FF2B5EF4-FFF2-40B4-BE49-F238E27FC236}">
                <a16:creationId xmlns:a16="http://schemas.microsoft.com/office/drawing/2014/main" id="{DC5A29E8-55D8-4A65-BAA6-047BFFD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Live smoke test: PASS · 83 web tests: PASS</a:t>
            </a:r>
          </a:p>
        </p:txBody>
      </p:sp>
      <p:sp>
        <p:nvSpPr>
          <p:cNvPr id="16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E0F1342B-C735-4C05-BCFB-1C13D62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1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A9657E7-8E56-4B57-8010-25C32BFC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6102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iPhone product">
            <a:extLst xmlns:a="http://schemas.openxmlformats.org/drawingml/2006/main">
              <a:ext uri="{FF2B5EF4-FFF2-40B4-BE49-F238E27FC236}">
                <a16:creationId xmlns:a16="http://schemas.microsoft.com/office/drawing/2014/main" id="{52350298-A2CD-4839-BBFE-A25DD3C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IPHONE PRODUCT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44E8CC09-EEE6-41D2-96F3-28D1B90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9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 public App Store product with a coherent mobile experience</a:t>
            </a:r>
          </a:p>
        </p:txBody>
      </p:sp>
      <p:sp>
        <p:nvSpPr>
          <p:cNvPr id="3" name="s4-store-frame">
            <a:extLst xmlns:a="http://schemas.openxmlformats.org/drawingml/2006/main">
              <a:ext uri="{FF2B5EF4-FFF2-40B4-BE49-F238E27FC236}">
                <a16:creationId xmlns:a16="http://schemas.microsoft.com/office/drawing/2014/main" id="{99C9F801-808E-4444-821D-DD78EA9C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6667500" cy="3790950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5f940cb38486f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6572250" cy="3695700"/>
          </a:xfrm>
          <a:prstGeom xmlns:a="http://schemas.openxmlformats.org/drawingml/2006/main" prst="roundRect">
            <a:avLst>
              <a:gd name="adj" fmla="val 4639"/>
            </a:avLst>
          </a:prstGeom>
        </p:spPr>
      </p:pic>
      <p:sp>
        <p:nvSpPr>
          <p:cNvPr id="5" name="s4-home-frame">
            <a:extLst xmlns:a="http://schemas.openxmlformats.org/drawingml/2006/main">
              <a:ext uri="{FF2B5EF4-FFF2-40B4-BE49-F238E27FC236}">
                <a16:creationId xmlns:a16="http://schemas.microsoft.com/office/drawing/2014/main" id="{742A3BA8-F188-4424-9AE0-75D1F46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19225"/>
            <a:ext cx="1695450" cy="35623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fbb428794eec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466850"/>
            <a:ext cx="1600200" cy="34671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7" name="s4-map-frame">
            <a:extLst xmlns:a="http://schemas.openxmlformats.org/drawingml/2006/main">
              <a:ext uri="{FF2B5EF4-FFF2-40B4-BE49-F238E27FC236}">
                <a16:creationId xmlns:a16="http://schemas.microsoft.com/office/drawing/2014/main" id="{5A7F9095-63F7-42BD-9CBB-043D6A63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19225"/>
            <a:ext cx="1695450" cy="35623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2822f98d2494d"/>
          <a:srcRect xmlns:a="http://schemas.openxmlformats.org/drawingml/2006/main" l="0" t="172" r="0" b="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1466850"/>
            <a:ext cx="1600200" cy="34671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9" name="s4-caption">
            <a:extLst xmlns:a="http://schemas.openxmlformats.org/drawingml/2006/main">
              <a:ext uri="{FF2B5EF4-FFF2-40B4-BE49-F238E27FC236}">
                <a16:creationId xmlns:a16="http://schemas.microsoft.com/office/drawing/2014/main" id="{A61A53FC-02A9-4C10-B418-037BC512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The public listing, navigation, city context, search, guide entry points and map experience already share one visual language.</a:t>
            </a:r>
          </a:p>
        </p:txBody>
      </p:sp>
      <p:sp>
        <p:nvSpPr>
          <p:cNvPr id="10" name="s4-build">
            <a:extLst xmlns:a="http://schemas.openxmlformats.org/drawingml/2006/main">
              <a:ext uri="{FF2B5EF4-FFF2-40B4-BE49-F238E27FC236}">
                <a16:creationId xmlns:a16="http://schemas.microsoft.com/office/drawing/2014/main" id="{A9004C9D-EBF8-49FF-B61B-1363EB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Unsigned generic-device Release: BUILD SUCCEEDED</a:t>
            </a:r>
          </a:p>
        </p:txBody>
      </p:sp>
      <p:sp>
        <p:nvSpPr>
          <p:cNvPr id="11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8BB5AC10-44BE-43C9-BF27-DD78C65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1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A90FF1F-5BE6-4BB2-8574-01766302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938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User journey">
            <a:extLst xmlns:a="http://schemas.openxmlformats.org/drawingml/2006/main">
              <a:ext uri="{FF2B5EF4-FFF2-40B4-BE49-F238E27FC236}">
                <a16:creationId xmlns:a16="http://schemas.microsoft.com/office/drawing/2014/main" id="{2617FA51-2F97-44C6-BADE-1BE5423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327B7BD1-7456-4E9E-8437-E6F61F3B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From question to verified next step</a:t>
            </a:r>
          </a:p>
        </p:txBody>
      </p:sp>
      <p:sp>
        <p:nvSpPr>
          <p:cNvPr id="3" name="s5-flow-frame">
            <a:extLst xmlns:a="http://schemas.openxmlformats.org/drawingml/2006/main">
              <a:ext uri="{FF2B5EF4-FFF2-40B4-BE49-F238E27FC236}">
                <a16:creationId xmlns:a16="http://schemas.microsoft.com/office/drawing/2014/main" id="{3C45D7F8-4EF3-470E-A931-B615EA5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14475"/>
            <a:ext cx="11068050" cy="4572000"/>
          </a:xfrm>
          <a:prstGeom xmlns:a="http://schemas.openxmlformats.org/drawingml/2006/main" prst="roundRect">
            <a:avLst>
              <a:gd name="adj" fmla="val 458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9567ecc6d467f"/>
          <a:srcRect xmlns:a="http://schemas.openxmlformats.org/drawingml/2006/main" l="0" t="13735" r="0" b="13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5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41CBF031-1C3E-46C6-BC63-7334B9D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F81E647-D5BC-4AB6-B4C7-B08DE9B5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3418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Location layer">
            <a:extLst xmlns:a="http://schemas.openxmlformats.org/drawingml/2006/main">
              <a:ext uri="{FF2B5EF4-FFF2-40B4-BE49-F238E27FC236}">
                <a16:creationId xmlns:a16="http://schemas.microsoft.com/office/drawing/2014/main" id="{251E4539-5257-4FD8-99CE-691C4C6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LOCATION LAYER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EAB38142-222A-4F7E-ABE9-DFD2CCC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8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The same geography powers web discovery and iPhone context</a:t>
            </a:r>
          </a:p>
        </p:txBody>
      </p:sp>
      <p:sp>
        <p:nvSpPr>
          <p:cNvPr id="3" name="s6-web-map-frame">
            <a:extLst xmlns:a="http://schemas.openxmlformats.org/drawingml/2006/main">
              <a:ext uri="{FF2B5EF4-FFF2-40B4-BE49-F238E27FC236}">
                <a16:creationId xmlns:a16="http://schemas.microsoft.com/office/drawing/2014/main" id="{C9BD6FC7-C52C-4E1C-90B7-FA26D115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09725"/>
            <a:ext cx="7429500" cy="4219575"/>
          </a:xfrm>
          <a:prstGeom xmlns:a="http://schemas.openxmlformats.org/drawingml/2006/main" prst="roundRect">
            <a:avLst>
              <a:gd name="adj" fmla="val 4966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0b76650549d4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34250" cy="4124325"/>
          </a:xfrm>
          <a:prstGeom xmlns:a="http://schemas.openxmlformats.org/drawingml/2006/main" prst="roundRect">
            <a:avLst>
              <a:gd name="adj" fmla="val 4157"/>
            </a:avLst>
          </a:prstGeom>
        </p:spPr>
      </p:pic>
      <p:sp>
        <p:nvSpPr>
          <p:cNvPr id="5" name="s6-app-map-frame">
            <a:extLst xmlns:a="http://schemas.openxmlformats.org/drawingml/2006/main">
              <a:ext uri="{FF2B5EF4-FFF2-40B4-BE49-F238E27FC236}">
                <a16:creationId xmlns:a16="http://schemas.microsoft.com/office/drawing/2014/main" id="{10A5A31D-1513-434C-9457-6245F7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19225"/>
            <a:ext cx="2667000" cy="46482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03ee0c0044364"/>
          <a:srcRect xmlns:a="http://schemas.openxmlformats.org/drawingml/2006/main" l="0" t="9286" r="0" b="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466850"/>
            <a:ext cx="2571750" cy="45529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7" name="s6-stat">
            <a:extLst xmlns:a="http://schemas.openxmlformats.org/drawingml/2006/main">
              <a:ext uri="{FF2B5EF4-FFF2-40B4-BE49-F238E27FC236}">
                <a16:creationId xmlns:a16="http://schemas.microsoft.com/office/drawing/2014/main" id="{1293A328-2258-4D7D-BF69-B0B0F1B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342 municipalities · 171 located published items · accessible list fallback</a:t>
            </a:r>
          </a:p>
        </p:txBody>
      </p:sp>
      <p:sp>
        <p:nvSpPr>
          <p:cNvPr id="8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1E6FF5ED-EA03-44C1-BC8E-B1DC97E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C0B6A39-815E-45B4-9D00-B53581FF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4765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Control plane">
            <a:extLst xmlns:a="http://schemas.openxmlformats.org/drawingml/2006/main">
              <a:ext uri="{FF2B5EF4-FFF2-40B4-BE49-F238E27FC236}">
                <a16:creationId xmlns:a16="http://schemas.microsoft.com/office/drawing/2014/main" id="{0D1C72D7-8353-4669-9138-92AE506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2D07EBA4-E674-494B-986D-320758E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Admin turns content, quality and releases into operations</a:t>
            </a:r>
          </a:p>
        </p:txBody>
      </p:sp>
      <p:sp>
        <p:nvSpPr>
          <p:cNvPr id="3" name="s7-admin-frame">
            <a:extLst xmlns:a="http://schemas.openxmlformats.org/drawingml/2006/main">
              <a:ext uri="{FF2B5EF4-FFF2-40B4-BE49-F238E27FC236}">
                <a16:creationId xmlns:a16="http://schemas.microsoft.com/office/drawing/2014/main" id="{14AD5B21-7E04-43A9-B2AA-1225C660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90675"/>
            <a:ext cx="8001000" cy="4543425"/>
          </a:xfrm>
          <a:prstGeom xmlns:a="http://schemas.openxmlformats.org/drawingml/2006/main" prst="roundRect">
            <a:avLst>
              <a:gd name="adj" fmla="val 4612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126d115bf4fb2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7905750" cy="4448175"/>
          </a:xfrm>
          <a:prstGeom xmlns:a="http://schemas.openxmlformats.org/drawingml/2006/main" prst="roundRect">
            <a:avLst>
              <a:gd name="adj" fmla="val 3854"/>
            </a:avLst>
          </a:prstGeom>
        </p:spPr>
      </p:pic>
      <p:sp>
        <p:nvSpPr>
          <p:cNvPr id="5" name="s7-a">
            <a:extLst xmlns:a="http://schemas.openxmlformats.org/drawingml/2006/main">
              <a:ext uri="{FF2B5EF4-FFF2-40B4-BE49-F238E27FC236}">
                <a16:creationId xmlns:a16="http://schemas.microsoft.com/office/drawing/2014/main" id="{F0539144-42F0-4A87-866C-4CF00CE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Content lifecycle</a:t>
            </a:r>
          </a:p>
        </p:txBody>
      </p:sp>
      <p:sp>
        <p:nvSpPr>
          <p:cNvPr id="6" name="s7-a2">
            <a:extLst xmlns:a="http://schemas.openxmlformats.org/drawingml/2006/main">
              <a:ext uri="{FF2B5EF4-FFF2-40B4-BE49-F238E27FC236}">
                <a16:creationId xmlns:a16="http://schemas.microsoft.com/office/drawing/2014/main" id="{C87E2203-0623-4DE6-A9C7-D1BEB0E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Published, review, outdated and blocked states.</a:t>
            </a:r>
          </a:p>
        </p:txBody>
      </p:sp>
      <p:sp>
        <p:nvSpPr>
          <p:cNvPr id="7" name="s7-b">
            <a:extLst xmlns:a="http://schemas.openxmlformats.org/drawingml/2006/main">
              <a:ext uri="{FF2B5EF4-FFF2-40B4-BE49-F238E27FC236}">
                <a16:creationId xmlns:a16="http://schemas.microsoft.com/office/drawing/2014/main" id="{5BD2E7EA-BC5D-4C27-A6BB-39C2ED5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Governed data</a:t>
            </a:r>
          </a:p>
        </p:txBody>
      </p:sp>
      <p:sp>
        <p:nvSpPr>
          <p:cNvPr id="8" name="s7-b2">
            <a:extLst xmlns:a="http://schemas.openxmlformats.org/drawingml/2006/main">
              <a:ext uri="{FF2B5EF4-FFF2-40B4-BE49-F238E27FC236}">
                <a16:creationId xmlns:a16="http://schemas.microsoft.com/office/drawing/2014/main" id="{0A6E3E8C-9AC4-4F95-9E33-A713D63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Sources, media, links, coordinates and AI summaries.</a:t>
            </a:r>
          </a:p>
        </p:txBody>
      </p:sp>
      <p:sp>
        <p:nvSpPr>
          <p:cNvPr id="9" name="s7-c">
            <a:extLst xmlns:a="http://schemas.openxmlformats.org/drawingml/2006/main">
              <a:ext uri="{FF2B5EF4-FFF2-40B4-BE49-F238E27FC236}">
                <a16:creationId xmlns:a16="http://schemas.microsoft.com/office/drawing/2014/main" id="{A76AE71C-3EE1-4687-A14C-EFCF85F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Protected actions</a:t>
            </a:r>
          </a:p>
        </p:txBody>
      </p:sp>
      <p:sp>
        <p:nvSpPr>
          <p:cNvPr id="10" name="s7-c2">
            <a:extLst xmlns:a="http://schemas.openxmlformats.org/drawingml/2006/main">
              <a:ext uri="{FF2B5EF4-FFF2-40B4-BE49-F238E27FC236}">
                <a16:creationId xmlns:a16="http://schemas.microsoft.com/office/drawing/2014/main" id="{AF34BE8C-9AA1-4E3B-B21E-49C4F77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72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Approved roles, audit log and explicit release surfaces.</a:t>
            </a:r>
          </a:p>
        </p:txBody>
      </p:sp>
      <p:sp>
        <p:nvSpPr>
          <p:cNvPr id="11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D137420E-B38C-4F11-84BC-50C834C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1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F2546F3-7A60-4557-90BA-F7D97D4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7908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Operational workspace">
            <a:extLst xmlns:a="http://schemas.openxmlformats.org/drawingml/2006/main">
              <a:ext uri="{FF2B5EF4-FFF2-40B4-BE49-F238E27FC236}">
                <a16:creationId xmlns:a16="http://schemas.microsoft.com/office/drawing/2014/main" id="{FCF40E22-1BA4-4DB2-9CA0-3D5AEC2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OPERATIONAL WORKSPACE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2B2E1843-ED16-4C40-92FC-08ACE6E8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73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One desktop surface links operations and engineering</a:t>
            </a:r>
          </a:p>
        </p:txBody>
      </p:sp>
      <p:sp>
        <p:nvSpPr>
          <p:cNvPr id="3" name="s8-workspace-frame">
            <a:extLst xmlns:a="http://schemas.openxmlformats.org/drawingml/2006/main">
              <a:ext uri="{FF2B5EF4-FFF2-40B4-BE49-F238E27FC236}">
                <a16:creationId xmlns:a16="http://schemas.microsoft.com/office/drawing/2014/main" id="{359197E4-D8F8-4422-9FB6-A9FDBC3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14475"/>
            <a:ext cx="4857750" cy="4857750"/>
          </a:xfrm>
          <a:prstGeom xmlns:a="http://schemas.openxmlformats.org/drawingml/2006/main" prst="roundRect">
            <a:avLst>
              <a:gd name="adj" fmla="val 4314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beecffba04a89"/>
          <a:srcRect xmlns:a="http://schemas.openxmlformats.org/drawingml/2006/main" l="1819" t="0" r="1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47625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5" name="s8-xcode-frame">
            <a:extLst xmlns:a="http://schemas.openxmlformats.org/drawingml/2006/main">
              <a:ext uri="{FF2B5EF4-FFF2-40B4-BE49-F238E27FC236}">
                <a16:creationId xmlns:a16="http://schemas.microsoft.com/office/drawing/2014/main" id="{43F3B7EC-14A8-4C92-A304-7BA8897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14475"/>
            <a:ext cx="5867400" cy="361950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2486dfb48426c"/>
          <a:srcRect xmlns:a="http://schemas.openxmlformats.org/drawingml/2006/main" l="0" t="352" r="0" b="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562100"/>
            <a:ext cx="5772150" cy="3524250"/>
          </a:xfrm>
          <a:prstGeom xmlns:a="http://schemas.openxmlformats.org/drawingml/2006/main" prst="roundRect">
            <a:avLst>
              <a:gd name="adj" fmla="val 4865"/>
            </a:avLst>
          </a:prstGeom>
        </p:spPr>
      </p:pic>
      <p:sp>
        <p:nvSpPr>
          <p:cNvPr id="7" name="s8-copy">
            <a:extLst xmlns:a="http://schemas.openxmlformats.org/drawingml/2006/main">
              <a:ext uri="{FF2B5EF4-FFF2-40B4-BE49-F238E27FC236}">
                <a16:creationId xmlns:a16="http://schemas.microsoft.com/office/drawing/2014/main" id="{1E1C20B4-9127-45D1-A0CE-537DD0C8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548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Project health, external services, release artifacts, activity and source-level engineering stay visible without collapsing safety boundaries.</a:t>
            </a:r>
          </a:p>
        </p:txBody>
      </p:sp>
      <p:sp>
        <p:nvSpPr>
          <p:cNvPr id="8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91419F75-28DE-4380-BD61-97F2512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60BB629-650E-4557-9E00-FE8519C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0239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System architecture">
            <a:extLst xmlns:a="http://schemas.openxmlformats.org/drawingml/2006/main">
              <a:ext uri="{FF2B5EF4-FFF2-40B4-BE49-F238E27FC236}">
                <a16:creationId xmlns:a16="http://schemas.microsoft.com/office/drawing/2014/main" id="{141B31C0-C7AD-47C1-A34C-7F3E8F7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3DCF7442-6043-4E83-9ECD-98EA257F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How YouNew works — end to end</a:t>
            </a:r>
          </a:p>
        </p:txBody>
      </p:sp>
      <p:sp>
        <p:nvSpPr>
          <p:cNvPr id="3" name="a-work-admin">
            <a:extLst xmlns:a="http://schemas.openxmlformats.org/drawingml/2006/main">
              <a:ext uri="{FF2B5EF4-FFF2-40B4-BE49-F238E27FC236}">
                <a16:creationId xmlns:a16="http://schemas.microsoft.com/office/drawing/2014/main" id="{FEEAF1F8-72F4-4E4D-9051-3C5D171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4" name="a-admin-data">
            <a:extLst xmlns:a="http://schemas.openxmlformats.org/drawingml/2006/main">
              <a:ext uri="{FF2B5EF4-FFF2-40B4-BE49-F238E27FC236}">
                <a16:creationId xmlns:a16="http://schemas.microsoft.com/office/drawing/2014/main" id="{6DB96F80-3C38-469C-8490-4E954BF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5" name="a-data-users">
            <a:extLst xmlns:a="http://schemas.openxmlformats.org/drawingml/2006/main">
              <a:ext uri="{FF2B5EF4-FFF2-40B4-BE49-F238E27FC236}">
                <a16:creationId xmlns:a16="http://schemas.microsoft.com/office/drawing/2014/main" id="{3C618739-D3C4-4B66-81B7-9F0386CC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D58B"/>
          </a:solidFill>
          <a:ln xmlns:a="http://schemas.openxmlformats.org/drawingml/2006/main" w="0">
            <a:solidFill>
              <a:srgbClr val="3FD58B"/>
            </a:solidFill>
            <a:prstDash val="solid"/>
          </a:ln>
        </p:spPr>
      </p:sp>
      <p:sp>
        <p:nvSpPr>
          <p:cNvPr id="6" name="a-deploy-users">
            <a:extLst xmlns:a="http://schemas.openxmlformats.org/drawingml/2006/main">
              <a:ext uri="{FF2B5EF4-FFF2-40B4-BE49-F238E27FC236}">
                <a16:creationId xmlns:a16="http://schemas.microsoft.com/office/drawing/2014/main" id="{F3ACF19C-D957-4652-ABA2-FC7A8F88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323850" cy="666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7" name="a-users-feedback">
            <a:extLst xmlns:a="http://schemas.openxmlformats.org/drawingml/2006/main">
              <a:ext uri="{FF2B5EF4-FFF2-40B4-BE49-F238E27FC236}">
                <a16:creationId xmlns:a16="http://schemas.microsoft.com/office/drawing/2014/main" id="{86A7DB2C-4E9A-4094-9B28-5417947A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3238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8" name="a-feedback-admin-horizontal">
            <a:extLst xmlns:a="http://schemas.openxmlformats.org/drawingml/2006/main">
              <a:ext uri="{FF2B5EF4-FFF2-40B4-BE49-F238E27FC236}">
                <a16:creationId xmlns:a16="http://schemas.microsoft.com/office/drawing/2014/main" id="{D51858C9-3DC2-46D9-B2DD-32BAF89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403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9" name="a-feedback-admin-vertical">
            <a:extLst xmlns:a="http://schemas.openxmlformats.org/drawingml/2006/main">
              <a:ext uri="{FF2B5EF4-FFF2-40B4-BE49-F238E27FC236}">
                <a16:creationId xmlns:a16="http://schemas.microsoft.com/office/drawing/2014/main" id="{9F6E3144-D694-484B-953F-108A4336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62350"/>
            <a:ext cx="323850" cy="12763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10" name="a-work-ci">
            <a:extLst xmlns:a="http://schemas.openxmlformats.org/drawingml/2006/main">
              <a:ext uri="{FF2B5EF4-FFF2-40B4-BE49-F238E27FC236}">
                <a16:creationId xmlns:a16="http://schemas.microsoft.com/office/drawing/2014/main" id="{C0DB30D5-5740-47FD-A571-0C605F07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0"/>
            <a:ext cx="323850" cy="666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11" name="node-workspace">
            <a:extLst xmlns:a="http://schemas.openxmlformats.org/drawingml/2006/main">
              <a:ext uri="{FF2B5EF4-FFF2-40B4-BE49-F238E27FC236}">
                <a16:creationId xmlns:a16="http://schemas.microsoft.com/office/drawing/2014/main" id="{A49CE7E1-A8E0-41BD-A4AD-E0E99FB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574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F47A24"/>
            </a:solidFill>
            <a:prstDash val="solid"/>
          </a:ln>
        </p:spPr>
      </p:sp>
      <p:sp>
        <p:nvSpPr>
          <p:cNvPr id="12" name="node-admin">
            <a:extLst xmlns:a="http://schemas.openxmlformats.org/drawingml/2006/main">
              <a:ext uri="{FF2B5EF4-FFF2-40B4-BE49-F238E27FC236}">
                <a16:creationId xmlns:a16="http://schemas.microsoft.com/office/drawing/2014/main" id="{AA0940AD-4DD9-4A58-B8D4-3638659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14859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62C9D8"/>
            </a:solidFill>
            <a:prstDash val="solid"/>
          </a:ln>
        </p:spPr>
      </p:sp>
      <p:sp>
        <p:nvSpPr>
          <p:cNvPr id="13" name="node-data">
            <a:extLst xmlns:a="http://schemas.openxmlformats.org/drawingml/2006/main">
              <a:ext uri="{FF2B5EF4-FFF2-40B4-BE49-F238E27FC236}">
                <a16:creationId xmlns:a16="http://schemas.microsoft.com/office/drawing/2014/main" id="{1BDF6781-7DFD-4965-806A-614E942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17335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3FD58B"/>
            </a:solidFill>
            <a:prstDash val="solid"/>
          </a:ln>
        </p:spPr>
      </p:sp>
      <p:sp>
        <p:nvSpPr>
          <p:cNvPr id="14" name="node-users">
            <a:extLst xmlns:a="http://schemas.openxmlformats.org/drawingml/2006/main">
              <a:ext uri="{FF2B5EF4-FFF2-40B4-BE49-F238E27FC236}">
                <a16:creationId xmlns:a16="http://schemas.microsoft.com/office/drawing/2014/main" id="{70B5DED6-783E-4ABE-90D7-4B1A1625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27241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F47A24"/>
            </a:solidFill>
            <a:prstDash val="solid"/>
          </a:ln>
        </p:spPr>
      </p:sp>
      <p:sp>
        <p:nvSpPr>
          <p:cNvPr id="15" name="node-ci">
            <a:extLst xmlns:a="http://schemas.openxmlformats.org/drawingml/2006/main">
              <a:ext uri="{FF2B5EF4-FFF2-40B4-BE49-F238E27FC236}">
                <a16:creationId xmlns:a16="http://schemas.microsoft.com/office/drawing/2014/main" id="{0D930F9B-1878-47C4-AFDF-A9DFCDF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057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1D30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sp>
        <p:nvSpPr>
          <p:cNvPr id="16" name="node-deploy">
            <a:extLst xmlns:a="http://schemas.openxmlformats.org/drawingml/2006/main">
              <a:ext uri="{FF2B5EF4-FFF2-40B4-BE49-F238E27FC236}">
                <a16:creationId xmlns:a16="http://schemas.microsoft.com/office/drawing/2014/main" id="{64FE88CD-A4BC-49B9-BC81-ED224B6B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52550"/>
            <a:ext cx="2724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1D30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sp>
        <p:nvSpPr>
          <p:cNvPr id="17" name="node-feedback">
            <a:extLst xmlns:a="http://schemas.openxmlformats.org/drawingml/2006/main">
              <a:ext uri="{FF2B5EF4-FFF2-40B4-BE49-F238E27FC236}">
                <a16:creationId xmlns:a16="http://schemas.microsoft.com/office/drawing/2014/main" id="{0A9B9A23-6C32-447E-937B-33E5EAEF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7241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1D30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sp>
        <p:nvSpPr>
          <p:cNvPr id="18" name="node-ci-text">
            <a:extLst xmlns:a="http://schemas.openxmlformats.org/drawingml/2006/main">
              <a:ext uri="{FF2B5EF4-FFF2-40B4-BE49-F238E27FC236}">
                <a16:creationId xmlns:a16="http://schemas.microsoft.com/office/drawing/2014/main" id="{396B9C88-B25C-46B6-A156-5DBBE3F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GitHub + CI</a:t>
            </a:r>
          </a:p>
          <a:p xmlns:a="http://schemas.openxmlformats.org/drawingml/2006/main">
            <a:pPr algn="ctr">
              <a:defRPr sz="142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source, checks, builds</a:t>
            </a:r>
          </a:p>
        </p:txBody>
      </p:sp>
      <p:sp>
        <p:nvSpPr>
          <p:cNvPr id="19" name="node-deploy-text">
            <a:extLst xmlns:a="http://schemas.openxmlformats.org/drawingml/2006/main">
              <a:ext uri="{FF2B5EF4-FFF2-40B4-BE49-F238E27FC236}">
                <a16:creationId xmlns:a16="http://schemas.microsoft.com/office/drawing/2014/main" id="{C50C0889-E4AA-4875-BAEE-FA994B6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04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App Store + web deploy</a:t>
            </a:r>
          </a:p>
          <a:p xmlns:a="http://schemas.openxmlformats.org/drawingml/2006/main">
            <a:pPr algn="ctr">
              <a:defRPr sz="142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signed delivery</a:t>
            </a:r>
          </a:p>
        </p:txBody>
      </p:sp>
      <p:sp>
        <p:nvSpPr>
          <p:cNvPr id="20" name="node-work-title">
            <a:extLst xmlns:a="http://schemas.openxmlformats.org/drawingml/2006/main">
              <a:ext uri="{FF2B5EF4-FFF2-40B4-BE49-F238E27FC236}">
                <a16:creationId xmlns:a16="http://schemas.microsoft.com/office/drawing/2014/main" id="{B76D5C31-CC3C-47FD-A194-7265DAF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5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YouNew Workspace</a:t>
            </a:r>
          </a:p>
        </p:txBody>
      </p:sp>
      <p:sp>
        <p:nvSpPr>
          <p:cNvPr id="21" name="node-work-copy">
            <a:extLst xmlns:a="http://schemas.openxmlformats.org/drawingml/2006/main">
              <a:ext uri="{FF2B5EF4-FFF2-40B4-BE49-F238E27FC236}">
                <a16:creationId xmlns:a16="http://schemas.microsoft.com/office/drawing/2014/main" id="{EB24098B-FEBA-4063-9387-815758D4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6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health · tools · releases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safe operational view</a:t>
            </a:r>
          </a:p>
        </p:txBody>
      </p:sp>
      <p:sp>
        <p:nvSpPr>
          <p:cNvPr id="22" name="node-admin-title">
            <a:extLst xmlns:a="http://schemas.openxmlformats.org/drawingml/2006/main">
              <a:ext uri="{FF2B5EF4-FFF2-40B4-BE49-F238E27FC236}">
                <a16:creationId xmlns:a16="http://schemas.microsoft.com/office/drawing/2014/main" id="{FE3ED32F-99E1-41EE-A20C-FB8B9E85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3" name="node-admin-copy">
            <a:extLst xmlns:a="http://schemas.openxmlformats.org/drawingml/2006/main">
              <a:ext uri="{FF2B5EF4-FFF2-40B4-BE49-F238E27FC236}">
                <a16:creationId xmlns:a16="http://schemas.microsoft.com/office/drawing/2014/main" id="{087CEA09-522D-428C-97F3-AFA0C8C9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3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content · quality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review · release</a:t>
            </a:r>
          </a:p>
        </p:txBody>
      </p:sp>
      <p:sp>
        <p:nvSpPr>
          <p:cNvPr id="24" name="node-data-title">
            <a:extLst xmlns:a="http://schemas.openxmlformats.org/drawingml/2006/main">
              <a:ext uri="{FF2B5EF4-FFF2-40B4-BE49-F238E27FC236}">
                <a16:creationId xmlns:a16="http://schemas.microsoft.com/office/drawing/2014/main" id="{FE1351A7-9852-421A-9B6D-25ED3098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25" name="node-data-copy">
            <a:extLst xmlns:a="http://schemas.openxmlformats.org/drawingml/2006/main">
              <a:ext uri="{FF2B5EF4-FFF2-40B4-BE49-F238E27FC236}">
                <a16:creationId xmlns:a16="http://schemas.microsoft.com/office/drawing/2014/main" id="{604D7C50-80AE-492F-9851-C3760CC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0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Postgres · RLS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Edge Functions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analytics · AI context</a:t>
            </a:r>
          </a:p>
        </p:txBody>
      </p:sp>
      <p:sp>
        <p:nvSpPr>
          <p:cNvPr id="26" name="node-users-title">
            <a:extLst xmlns:a="http://schemas.openxmlformats.org/drawingml/2006/main">
              <a:ext uri="{FF2B5EF4-FFF2-40B4-BE49-F238E27FC236}">
                <a16:creationId xmlns:a16="http://schemas.microsoft.com/office/drawing/2014/main" id="{F5EE930B-2579-4EEE-8A8C-1B81D18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Public Web + iOS</a:t>
            </a:r>
          </a:p>
        </p:txBody>
      </p:sp>
      <p:sp>
        <p:nvSpPr>
          <p:cNvPr id="27" name="node-users-copy">
            <a:extLst xmlns:a="http://schemas.openxmlformats.org/drawingml/2006/main">
              <a:ext uri="{FF2B5EF4-FFF2-40B4-BE49-F238E27FC236}">
                <a16:creationId xmlns:a16="http://schemas.microsoft.com/office/drawing/2014/main" id="{4E9F3597-7E6E-4EE6-A2D9-84EB510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discover · guides · map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search · save · share</a:t>
            </a:r>
          </a:p>
          <a:p xmlns:a="http://schemas.openxmlformats.org/drawingml/2006/main">
            <a:pPr algn="ctr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source verification</a:t>
            </a:r>
          </a:p>
        </p:txBody>
      </p:sp>
      <p:sp>
        <p:nvSpPr>
          <p:cNvPr id="28" name="node-feedback-text">
            <a:extLst xmlns:a="http://schemas.openxmlformats.org/drawingml/2006/main">
              <a:ext uri="{FF2B5EF4-FFF2-40B4-BE49-F238E27FC236}">
                <a16:creationId xmlns:a16="http://schemas.microsoft.com/office/drawing/2014/main" id="{C2318F07-9D0C-47DF-9290-C6C95EB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Privacy-safe analytics + feedback</a:t>
            </a:r>
          </a:p>
          <a:p xmlns:a="http://schemas.openxmlformats.org/drawingml/2006/main">
            <a:pPr algn="ctr">
              <a:defRPr sz="13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bounded signals return to Admin</a:t>
            </a:r>
          </a:p>
        </p:txBody>
      </p:sp>
      <p:sp>
        <p:nvSpPr>
          <p:cNvPr id="29" name="s9-principle">
            <a:extLst xmlns:a="http://schemas.openxmlformats.org/drawingml/2006/main">
              <a:ext uri="{FF2B5EF4-FFF2-40B4-BE49-F238E27FC236}">
                <a16:creationId xmlns:a16="http://schemas.microsoft.com/office/drawing/2014/main" id="{A9106B35-06DB-40DE-AB2A-2D26CB31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One governed data model · explicit trust boundaries · auditable release path</a:t>
            </a:r>
          </a:p>
        </p:txBody>
      </p:sp>
      <p:sp>
        <p:nvSpPr>
          <p:cNvPr id="30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F46B1778-6722-4A2E-B58F-2139F4B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31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5097AF0-4F80-44AF-BDD4-15D59278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70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Verification evidence">
            <a:extLst xmlns:a="http://schemas.openxmlformats.org/drawingml/2006/main">
              <a:ext uri="{FF2B5EF4-FFF2-40B4-BE49-F238E27FC236}">
                <a16:creationId xmlns:a16="http://schemas.microsoft.com/office/drawing/2014/main" id="{272CA79D-53DC-40A3-8656-B6CB9022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VERIFICATION EVIDENCE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4E811CF0-A32B-4F20-91F6-8E71FD9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35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Quality is visible in the numbers and the gates</a:t>
            </a:r>
          </a:p>
        </p:txBody>
      </p:sp>
      <p:sp>
        <p:nvSpPr>
          <p:cNvPr id="3" name="s10-m0-value">
            <a:extLst xmlns:a="http://schemas.openxmlformats.org/drawingml/2006/main">
              <a:ext uri="{FF2B5EF4-FFF2-40B4-BE49-F238E27FC236}">
                <a16:creationId xmlns:a16="http://schemas.microsoft.com/office/drawing/2014/main" id="{C8B8D5CF-D9BE-44A7-BE40-9F60C4E9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450</a:t>
            </a:r>
          </a:p>
        </p:txBody>
      </p:sp>
      <p:sp>
        <p:nvSpPr>
          <p:cNvPr id="4" name="s10-m0-rule">
            <a:extLst xmlns:a="http://schemas.openxmlformats.org/drawingml/2006/main">
              <a:ext uri="{FF2B5EF4-FFF2-40B4-BE49-F238E27FC236}">
                <a16:creationId xmlns:a16="http://schemas.microsoft.com/office/drawing/2014/main" id="{791CE36B-A60D-4EA7-822E-66F19622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5" name="s10-m0-label">
            <a:extLst xmlns:a="http://schemas.openxmlformats.org/drawingml/2006/main">
              <a:ext uri="{FF2B5EF4-FFF2-40B4-BE49-F238E27FC236}">
                <a16:creationId xmlns:a16="http://schemas.microsoft.com/office/drawing/2014/main" id="{B7E556BD-9071-47E0-A143-9B4B6084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governed records</a:t>
            </a:r>
          </a:p>
        </p:txBody>
      </p:sp>
      <p:sp>
        <p:nvSpPr>
          <p:cNvPr id="6" name="s10-m1-value">
            <a:extLst xmlns:a="http://schemas.openxmlformats.org/drawingml/2006/main">
              <a:ext uri="{FF2B5EF4-FFF2-40B4-BE49-F238E27FC236}">
                <a16:creationId xmlns:a16="http://schemas.microsoft.com/office/drawing/2014/main" id="{8B7A2CC7-3018-4737-B363-2780658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186</a:t>
            </a:r>
          </a:p>
        </p:txBody>
      </p:sp>
      <p:sp>
        <p:nvSpPr>
          <p:cNvPr id="7" name="s10-m1-rule">
            <a:extLst xmlns:a="http://schemas.openxmlformats.org/drawingml/2006/main">
              <a:ext uri="{FF2B5EF4-FFF2-40B4-BE49-F238E27FC236}">
                <a16:creationId xmlns:a16="http://schemas.microsoft.com/office/drawing/2014/main" id="{A28D6E06-1661-4FA2-862C-10E878A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38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8" name="s10-m1-label">
            <a:extLst xmlns:a="http://schemas.openxmlformats.org/drawingml/2006/main">
              <a:ext uri="{FF2B5EF4-FFF2-40B4-BE49-F238E27FC236}">
                <a16:creationId xmlns:a16="http://schemas.microsoft.com/office/drawing/2014/main" id="{A6D2E767-2A58-4BFC-93F1-03CF5C2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published records</a:t>
            </a:r>
          </a:p>
        </p:txBody>
      </p:sp>
      <p:sp>
        <p:nvSpPr>
          <p:cNvPr id="9" name="s10-m2-value">
            <a:extLst xmlns:a="http://schemas.openxmlformats.org/drawingml/2006/main">
              <a:ext uri="{FF2B5EF4-FFF2-40B4-BE49-F238E27FC236}">
                <a16:creationId xmlns:a16="http://schemas.microsoft.com/office/drawing/2014/main" id="{FC81FC8D-9566-4E39-844A-12C49EA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97.8%</a:t>
            </a:r>
          </a:p>
        </p:txBody>
      </p:sp>
      <p:sp>
        <p:nvSpPr>
          <p:cNvPr id="10" name="s10-m2-rule">
            <a:extLst xmlns:a="http://schemas.openxmlformats.org/drawingml/2006/main">
              <a:ext uri="{FF2B5EF4-FFF2-40B4-BE49-F238E27FC236}">
                <a16:creationId xmlns:a16="http://schemas.microsoft.com/office/drawing/2014/main" id="{6E5FFF29-ED6E-4AB9-9DF4-65CB5A1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58B"/>
          </a:solidFill>
          <a:ln xmlns:a="http://schemas.openxmlformats.org/drawingml/2006/main" w="0">
            <a:solidFill>
              <a:srgbClr val="3FD58B"/>
            </a:solidFill>
            <a:prstDash val="solid"/>
          </a:ln>
        </p:spPr>
      </p:sp>
      <p:sp>
        <p:nvSpPr>
          <p:cNvPr id="11" name="s10-m2-label">
            <a:extLst xmlns:a="http://schemas.openxmlformats.org/drawingml/2006/main">
              <a:ext uri="{FF2B5EF4-FFF2-40B4-BE49-F238E27FC236}">
                <a16:creationId xmlns:a16="http://schemas.microsoft.com/office/drawing/2014/main" id="{826FBABF-D390-4C5C-9DE0-A4FC3F5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freshness compliant</a:t>
            </a:r>
          </a:p>
        </p:txBody>
      </p:sp>
      <p:sp>
        <p:nvSpPr>
          <p:cNvPr id="12" name="s10-m3-value">
            <a:extLst xmlns:a="http://schemas.openxmlformats.org/drawingml/2006/main">
              <a:ext uri="{FF2B5EF4-FFF2-40B4-BE49-F238E27FC236}">
                <a16:creationId xmlns:a16="http://schemas.microsoft.com/office/drawing/2014/main" id="{FF4F70D6-BFBD-4134-A08D-2ED89449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170</a:t>
            </a:r>
          </a:p>
        </p:txBody>
      </p:sp>
      <p:sp>
        <p:nvSpPr>
          <p:cNvPr id="13" name="s10-m3-rule">
            <a:extLst xmlns:a="http://schemas.openxmlformats.org/drawingml/2006/main">
              <a:ext uri="{FF2B5EF4-FFF2-40B4-BE49-F238E27FC236}">
                <a16:creationId xmlns:a16="http://schemas.microsoft.com/office/drawing/2014/main" id="{DB583898-B19C-4947-ADA7-A134DF81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4" name="s10-m3-label">
            <a:extLst xmlns:a="http://schemas.openxmlformats.org/drawingml/2006/main">
              <a:ext uri="{FF2B5EF4-FFF2-40B4-BE49-F238E27FC236}">
                <a16:creationId xmlns:a16="http://schemas.microsoft.com/office/drawing/2014/main" id="{6001B41B-F941-470D-95F2-A728CAB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assets rights-checked</a:t>
            </a:r>
          </a:p>
        </p:txBody>
      </p:sp>
      <p:sp>
        <p:nvSpPr>
          <p:cNvPr id="15" name="s10-m4-value">
            <a:extLst xmlns:a="http://schemas.openxmlformats.org/drawingml/2006/main">
              <a:ext uri="{FF2B5EF4-FFF2-40B4-BE49-F238E27FC236}">
                <a16:creationId xmlns:a16="http://schemas.microsoft.com/office/drawing/2014/main" id="{632AB7FC-189F-4469-91F4-037751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16" name="s10-m4-rule">
            <a:extLst xmlns:a="http://schemas.openxmlformats.org/drawingml/2006/main">
              <a:ext uri="{FF2B5EF4-FFF2-40B4-BE49-F238E27FC236}">
                <a16:creationId xmlns:a16="http://schemas.microsoft.com/office/drawing/2014/main" id="{F0BDB4AD-280E-45A2-B473-C5D09DD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6D"/>
          </a:solidFill>
          <a:ln xmlns:a="http://schemas.openxmlformats.org/drawingml/2006/main" w="0">
            <a:solidFill>
              <a:srgbClr val="FFAD6D"/>
            </a:solidFill>
            <a:prstDash val="solid"/>
          </a:ln>
        </p:spPr>
      </p:sp>
      <p:sp>
        <p:nvSpPr>
          <p:cNvPr id="17" name="s10-m4-label">
            <a:extLst xmlns:a="http://schemas.openxmlformats.org/drawingml/2006/main">
              <a:ext uri="{FF2B5EF4-FFF2-40B4-BE49-F238E27FC236}">
                <a16:creationId xmlns:a16="http://schemas.microsoft.com/office/drawing/2014/main" id="{648F6E9E-0AFA-4BC0-983D-E9DDD358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passing web/admin/AI tests</a:t>
            </a:r>
          </a:p>
        </p:txBody>
      </p:sp>
      <p:sp>
        <p:nvSpPr>
          <p:cNvPr id="18" name="s10-divider">
            <a:extLst xmlns:a="http://schemas.openxmlformats.org/drawingml/2006/main">
              <a:ext uri="{FF2B5EF4-FFF2-40B4-BE49-F238E27FC236}">
                <a16:creationId xmlns:a16="http://schemas.microsoft.com/office/drawing/2014/main" id="{F5FB3365-EC5F-44A8-BA56-EE46CD6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19" name="s10-proof-a">
            <a:extLst xmlns:a="http://schemas.openxmlformats.org/drawingml/2006/main">
              <a:ext uri="{FF2B5EF4-FFF2-40B4-BE49-F238E27FC236}">
                <a16:creationId xmlns:a16="http://schemas.microsoft.com/office/drawing/2014/main" id="{5FB5527A-ECC2-4074-A7D4-046B9AE1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PUBLIC WEB</a:t>
            </a:r>
          </a:p>
        </p:txBody>
      </p:sp>
      <p:sp>
        <p:nvSpPr>
          <p:cNvPr id="20" name="s10-proof-a2">
            <a:extLst xmlns:a="http://schemas.openxmlformats.org/drawingml/2006/main">
              <a:ext uri="{FF2B5EF4-FFF2-40B4-BE49-F238E27FC236}">
                <a16:creationId xmlns:a16="http://schemas.microsoft.com/office/drawing/2014/main" id="{59782C13-AE70-40F4-8FEE-8D3D92C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Predeploy PASS · live routes reviewed</a:t>
            </a:r>
          </a:p>
        </p:txBody>
      </p:sp>
      <p:sp>
        <p:nvSpPr>
          <p:cNvPr id="21" name="s10-proof-b">
            <a:extLst xmlns:a="http://schemas.openxmlformats.org/drawingml/2006/main">
              <a:ext uri="{FF2B5EF4-FFF2-40B4-BE49-F238E27FC236}">
                <a16:creationId xmlns:a16="http://schemas.microsoft.com/office/drawing/2014/main" id="{BE2EC2A5-3FC5-4190-8007-02DC902F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ADMIN + EDGE</a:t>
            </a:r>
          </a:p>
        </p:txBody>
      </p:sp>
      <p:sp>
        <p:nvSpPr>
          <p:cNvPr id="22" name="s10-proof-b2">
            <a:extLst xmlns:a="http://schemas.openxmlformats.org/drawingml/2006/main">
              <a:ext uri="{FF2B5EF4-FFF2-40B4-BE49-F238E27FC236}">
                <a16:creationId xmlns:a16="http://schemas.microsoft.com/office/drawing/2014/main" id="{AC43FB32-CC8B-4B8C-8151-E1DBAD0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Build PASS · function typecheck PASS</a:t>
            </a:r>
          </a:p>
        </p:txBody>
      </p:sp>
      <p:sp>
        <p:nvSpPr>
          <p:cNvPr id="23" name="s10-proof-c">
            <a:extLst xmlns:a="http://schemas.openxmlformats.org/drawingml/2006/main">
              <a:ext uri="{FF2B5EF4-FFF2-40B4-BE49-F238E27FC236}">
                <a16:creationId xmlns:a16="http://schemas.microsoft.com/office/drawing/2014/main" id="{D03B585C-0718-4B58-9BEE-B53A5EC1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iOS RELEASE</a:t>
            </a:r>
          </a:p>
        </p:txBody>
      </p:sp>
      <p:sp>
        <p:nvSpPr>
          <p:cNvPr id="24" name="s10-proof-c2">
            <a:extLst xmlns:a="http://schemas.openxmlformats.org/drawingml/2006/main">
              <a:ext uri="{FF2B5EF4-FFF2-40B4-BE49-F238E27FC236}">
                <a16:creationId xmlns:a16="http://schemas.microsoft.com/office/drawing/2014/main" id="{59B5C43B-D1AF-40EB-AD28-E48A150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Unsigned device build: SUCCEEDED</a:t>
            </a:r>
          </a:p>
        </p:txBody>
      </p:sp>
      <p:sp>
        <p:nvSpPr>
          <p:cNvPr id="25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CE9A4A68-524F-4492-B29D-E18EDF2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2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6A0381F8-F06F-4036-B1A5-3AD4FF61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928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Release posture">
            <a:extLst xmlns:a="http://schemas.openxmlformats.org/drawingml/2006/main">
              <a:ext uri="{FF2B5EF4-FFF2-40B4-BE49-F238E27FC236}">
                <a16:creationId xmlns:a16="http://schemas.microsoft.com/office/drawing/2014/main" id="{1BE1EE37-29A4-4F1A-9509-043808B7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RELEASE POSTURE</a:t>
            </a:r>
          </a:p>
        </p:txBody>
      </p:sp>
      <p:sp>
        <p:nvSpPr>
          <p:cNvPr id="2" name="s11-title">
            <a:extLst xmlns:a="http://schemas.openxmlformats.org/drawingml/2006/main">
              <a:ext uri="{FF2B5EF4-FFF2-40B4-BE49-F238E27FC236}">
                <a16:creationId xmlns:a16="http://schemas.microsoft.com/office/drawing/2014/main" id="{82EB16FC-C843-41F9-921A-245171C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Ready for controlled release-candidate handoff</a:t>
            </a:r>
          </a:p>
        </p:txBody>
      </p:sp>
      <p:sp>
        <p:nvSpPr>
          <p:cNvPr id="3" name="s11-score">
            <a:extLst xmlns:a="http://schemas.openxmlformats.org/drawingml/2006/main">
              <a:ext uri="{FF2B5EF4-FFF2-40B4-BE49-F238E27FC236}">
                <a16:creationId xmlns:a16="http://schemas.microsoft.com/office/drawing/2014/main" id="{B148DF31-9407-4663-A6C3-E1CE6F1B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7.8</a:t>
            </a:r>
          </a:p>
        </p:txBody>
      </p:sp>
      <p:sp>
        <p:nvSpPr>
          <p:cNvPr id="4" name="s11-score-label">
            <a:extLst xmlns:a="http://schemas.openxmlformats.org/drawingml/2006/main">
              <a:ext uri="{FF2B5EF4-FFF2-40B4-BE49-F238E27FC236}">
                <a16:creationId xmlns:a16="http://schemas.microsoft.com/office/drawing/2014/main" id="{7B88135A-6724-4351-A54A-AA2A5A06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technical readiness</a:t>
            </a:r>
          </a:p>
          <a:p xmlns:a="http://schemas.openxmlformats.org/drawingml/2006/main">
            <a:pPr algn="l">
              <a:defRPr sz="16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out of 10</a:t>
            </a:r>
          </a:p>
        </p:txBody>
      </p:sp>
      <p:sp>
        <p:nvSpPr>
          <p:cNvPr id="5" name="s11-proven">
            <a:extLst xmlns:a="http://schemas.openxmlformats.org/drawingml/2006/main">
              <a:ext uri="{FF2B5EF4-FFF2-40B4-BE49-F238E27FC236}">
                <a16:creationId xmlns:a16="http://schemas.microsoft.com/office/drawing/2014/main" id="{E2ED7B31-09C7-4DEA-B718-7139A1C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Already proven</a:t>
            </a:r>
          </a:p>
        </p:txBody>
      </p:sp>
      <p:sp>
        <p:nvSpPr>
          <p:cNvPr id="6" name="s11-proven-list">
            <a:extLst xmlns:a="http://schemas.openxmlformats.org/drawingml/2006/main">
              <a:ext uri="{FF2B5EF4-FFF2-40B4-BE49-F238E27FC236}">
                <a16:creationId xmlns:a16="http://schemas.microsoft.com/office/drawing/2014/main" id="{5EADA7EC-7F9F-40DA-AD0A-C1BA897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3429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Live public web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Public App Store listing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Authenticated Admin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Healthy Supabase runtime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Successful unsigned Release build</a:t>
            </a:r>
          </a:p>
        </p:txBody>
      </p:sp>
      <p:sp>
        <p:nvSpPr>
          <p:cNvPr id="7" name="s11-gates">
            <a:extLst xmlns:a="http://schemas.openxmlformats.org/drawingml/2006/main">
              <a:ext uri="{FF2B5EF4-FFF2-40B4-BE49-F238E27FC236}">
                <a16:creationId xmlns:a16="http://schemas.microsoft.com/office/drawing/2014/main" id="{EF4CA97B-C923-409D-960B-9C43991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Final release gates</a:t>
            </a:r>
          </a:p>
        </p:txBody>
      </p:sp>
      <p:sp>
        <p:nvSpPr>
          <p:cNvPr id="8" name="s11-gates-list">
            <a:extLst xmlns:a="http://schemas.openxmlformats.org/drawingml/2006/main">
              <a:ext uri="{FF2B5EF4-FFF2-40B4-BE49-F238E27FC236}">
                <a16:creationId xmlns:a16="http://schemas.microsoft.com/office/drawing/2014/main" id="{427E5ADE-695D-4EDA-AEB0-89B99174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Clean source SHA + green CI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Signed archive + runnable iOS tests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Encrypted backup + isolated restore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Authenticated Admin E2E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Flagship guides production-ready</a:t>
            </a:r>
          </a:p>
        </p:txBody>
      </p:sp>
      <p:sp>
        <p:nvSpPr>
          <p:cNvPr id="9" name="s11-bottom">
            <a:extLst xmlns:a="http://schemas.openxmlformats.org/drawingml/2006/main">
              <a:ext uri="{FF2B5EF4-FFF2-40B4-BE49-F238E27FC236}">
                <a16:creationId xmlns:a16="http://schemas.microsoft.com/office/drawing/2014/main" id="{5B77BBF0-A01B-46D5-8E55-7E6A90F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A3651"/>
            </a:solidFill>
            <a:prstDash val="solid"/>
          </a:ln>
        </p:spPr>
      </p:sp>
      <p:sp>
        <p:nvSpPr>
          <p:cNvPr id="10" name="s11-bottom-text">
            <a:extLst xmlns:a="http://schemas.openxmlformats.org/drawingml/2006/main">
              <a:ext uri="{FF2B5EF4-FFF2-40B4-BE49-F238E27FC236}">
                <a16:creationId xmlns:a16="http://schemas.microsoft.com/office/drawing/2014/main" id="{7111FA41-D567-4C6C-A432-B376F37C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Operational today. Final release authority remains tied to explicit, testable evidence.</a:t>
            </a:r>
          </a:p>
        </p:txBody>
      </p:sp>
      <p:sp>
        <p:nvSpPr>
          <p:cNvPr id="11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2053E3B0-C7CF-41D5-B7FC-01254AA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819A"/>
                </a:solidFill>
                <a:latin typeface="Aptos"/>
                <a:ea typeface="Aptos"/>
                <a:cs typeface="Aptos"/>
              </a:rPr>
              <a:t>YouNew · Product ecosystem · 30 July 2026</a:t>
            </a:r>
          </a:p>
        </p:txBody>
      </p:sp>
      <p:sp>
        <p:nvSpPr>
          <p:cNvPr id="12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9130C396-339C-46FF-B84A-FF9A8F7C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8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81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5839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438c2f9634f19"/>
          <a:srcRect xmlns:a="http://schemas.openxmlformats.org/drawingml/2006/main" l="23438" t="0" r="234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2-panel">
            <a:extLst xmlns:a="http://schemas.openxmlformats.org/drawingml/2006/main">
              <a:ext uri="{FF2B5EF4-FFF2-40B4-BE49-F238E27FC236}">
                <a16:creationId xmlns:a16="http://schemas.microsoft.com/office/drawing/2014/main" id="{111BCB7A-E989-4E7B-8198-F668661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6"/>
          </a:solidFill>
          <a:ln xmlns:a="http://schemas.openxmlformats.org/drawingml/2006/main" w="0">
            <a:solidFill>
              <a:srgbClr val="080B16"/>
            </a:solidFill>
            <a:prstDash val="solid"/>
          </a:ln>
        </p:spPr>
      </p:sp>
      <p:sp>
        <p:nvSpPr>
          <p:cNvPr id="3" name="s12-brand">
            <a:extLst xmlns:a="http://schemas.openxmlformats.org/drawingml/2006/main">
              <a:ext uri="{FF2B5EF4-FFF2-40B4-BE49-F238E27FC236}">
                <a16:creationId xmlns:a16="http://schemas.microsoft.com/office/drawing/2014/main" id="{3AF31A23-CE8A-4A4F-8387-B57676E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YouNew</a:t>
            </a:r>
          </a:p>
        </p:txBody>
      </p:sp>
      <p:sp>
        <p:nvSpPr>
          <p:cNvPr id="4" name="s12-title">
            <a:extLst xmlns:a="http://schemas.openxmlformats.org/drawingml/2006/main">
              <a:ext uri="{FF2B5EF4-FFF2-40B4-BE49-F238E27FC236}">
                <a16:creationId xmlns:a16="http://schemas.microsoft.com/office/drawing/2014/main" id="{A9B28C04-0232-4D15-8C24-40FF0029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533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 working ecosystem</a:t>
            </a:r>
          </a:p>
          <a:p xmlns:a="http://schemas.openxmlformats.org/drawingml/2006/main">
            <a:pPr algn="l">
              <a:defRPr sz="51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built to scale</a:t>
            </a:r>
          </a:p>
        </p:txBody>
      </p:sp>
      <p:sp>
        <p:nvSpPr>
          <p:cNvPr id="5" name="s12-copy">
            <a:extLst xmlns:a="http://schemas.openxmlformats.org/drawingml/2006/main">
              <a:ext uri="{FF2B5EF4-FFF2-40B4-BE49-F238E27FC236}">
                <a16:creationId xmlns:a16="http://schemas.microsoft.com/office/drawing/2014/main" id="{47F33B2C-A071-4332-9878-C0E68AA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Product experience, governed data, operational control and release evidence — connected in one system.</a:t>
            </a:r>
          </a:p>
        </p:txBody>
      </p:sp>
      <p:sp>
        <p:nvSpPr>
          <p:cNvPr id="6" name="s12-next">
            <a:extLst xmlns:a="http://schemas.openxmlformats.org/drawingml/2006/main">
              <a:ext uri="{FF2B5EF4-FFF2-40B4-BE49-F238E27FC236}">
                <a16:creationId xmlns:a16="http://schemas.microsoft.com/office/drawing/2014/main" id="{D939C73B-475A-46EA-936B-B9A4CB20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Next milestone: flagship practical guides + clean release identity</a:t>
            </a:r>
          </a:p>
        </p:txBody>
      </p:sp>
    </p:spTree>
    <p:extLst>
      <p:ext uri="{BB962C8B-B14F-4D97-AF65-F5344CB8AC3E}">
        <p14:creationId xmlns:p14="http://schemas.microsoft.com/office/powerpoint/2010/main" val="652270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2026-07-30T09:39:37.6740000Z</dcterms:created>
  <dcterms:modified xsi:type="dcterms:W3CDTF">2026-07-30T09:39:37.6740000Z</dcterms:modified>
</coreProperties>
</file>