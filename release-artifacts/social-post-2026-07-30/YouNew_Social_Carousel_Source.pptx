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91342e29e34744" /><Relationship Type="http://schemas.openxmlformats.org/officeDocument/2006/relationships/extended-properties" Target="/docProps/app.xml" Id="R2c923f4e604d4adb" /><Relationship Type="http://schemas.openxmlformats.org/officeDocument/2006/relationships/officeDocument" Target="/ppt/presentation.xml" Id="R651fad1e85ef43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7554a5ac1f4493"/>
  </p:sldMasterIdLst>
  <p:notesMasterIdLst>
    <p:notesMasterId xmlns:r="http://schemas.openxmlformats.org/officeDocument/2006/relationships" r:id="R78325f5c4f1a4bd3"/>
  </p:notesMasterIdLst>
  <p:sldIdLst>
    <p:sldId xmlns:r="http://schemas.openxmlformats.org/officeDocument/2006/relationships" id="256" r:id="Rf4adf5e3adfe4379"/>
    <p:sldId xmlns:r="http://schemas.openxmlformats.org/officeDocument/2006/relationships" id="257" r:id="R2a0f8d172ff54e7b"/>
    <p:sldId xmlns:r="http://schemas.openxmlformats.org/officeDocument/2006/relationships" id="258" r:id="R405f9e0b785b4480"/>
    <p:sldId xmlns:r="http://schemas.openxmlformats.org/officeDocument/2006/relationships" id="259" r:id="R6c8af537acaf4726"/>
    <p:sldId xmlns:r="http://schemas.openxmlformats.org/officeDocument/2006/relationships" id="260" r:id="R26579730310c4153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27b9bb9c244319" /><Relationship Type="http://schemas.openxmlformats.org/officeDocument/2006/relationships/slideMaster" Target="/ppt/slideMasters/slideMaster1.xml" Id="Rd67554a5ac1f4493" /><Relationship Type="http://schemas.openxmlformats.org/officeDocument/2006/relationships/notesMaster" Target="/ppt/notesMasters/notesMaster1.xml" Id="R78325f5c4f1a4bd3" /><Relationship Type="http://schemas.openxmlformats.org/officeDocument/2006/relationships/presProps" Target="/ppt/presProps.xml" Id="R94410843459f42dd" /><Relationship Type="http://schemas.openxmlformats.org/officeDocument/2006/relationships/tableStyles" Target="/ppt/tableStyles.xml" Id="R367828997ade4455" /><Relationship Type="http://schemas.openxmlformats.org/officeDocument/2006/relationships/slide" Target="/ppt/slides/slide1.xml" Id="Rf4adf5e3adfe4379" /><Relationship Type="http://schemas.openxmlformats.org/officeDocument/2006/relationships/slide" Target="/ppt/slides/slide2.xml" Id="R2a0f8d172ff54e7b" /><Relationship Type="http://schemas.openxmlformats.org/officeDocument/2006/relationships/slide" Target="/ppt/slides/slide3.xml" Id="R405f9e0b785b4480" /><Relationship Type="http://schemas.openxmlformats.org/officeDocument/2006/relationships/slide" Target="/ppt/slides/slide4.xml" Id="R6c8af537acaf4726" /><Relationship Type="http://schemas.openxmlformats.org/officeDocument/2006/relationships/slide" Target="/ppt/slides/slide5.xml" Id="R26579730310c41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a0450a49da4d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cffb4ed031413d" /><Relationship Type="http://schemas.openxmlformats.org/officeDocument/2006/relationships/notesMaster" Target="/ppt/notesMasters/notesMaster1.xml" Id="R1df5260f515d49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8fd831b9594086" /><Relationship Type="http://schemas.openxmlformats.org/officeDocument/2006/relationships/notesMaster" Target="/ppt/notesMasters/notesMaster1.xml" Id="R91b2e829ae6344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8a8c48837049b4" /><Relationship Type="http://schemas.openxmlformats.org/officeDocument/2006/relationships/notesMaster" Target="/ppt/notesMasters/notesMaster1.xml" Id="Re820599f199243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71598c651f4cda" /><Relationship Type="http://schemas.openxmlformats.org/officeDocument/2006/relationships/notesMaster" Target="/ppt/notesMasters/notesMaster1.xml" Id="Ra0c0ad38a24246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df1e85a11947e8" /><Relationship Type="http://schemas.openxmlformats.org/officeDocument/2006/relationships/notesMaster" Target="/ppt/notesMasters/notesMaster1.xml" Id="Rbcaa077f846242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https://younew.nl/ — live screenshot captured 2026-07-30.</a:t>
            </a:r>
          </a:p>
          <a:p xmlns:a="http://schemas.openxmlformats.org/drawingml/2006/main">
            <a:r>
              <a:t>- /Users/ivan/Desktop/Developer:YouNew/YouNew/release-artifacts/presentation-2026-07-30/assets/web-home.png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/Users/ivan/Desktop/Developer:YouNew/YouNew/release-artifacts/presentation-2026-07-30/assets/app-home-nl.png</a:t>
            </a:r>
          </a:p>
          <a:p xmlns:a="http://schemas.openxmlformats.org/drawingml/2006/main">
            <a:r>
              <a:t>- /Users/ivan/Desktop/Developer:YouNew/YouNew/release-artifacts/presentation-2026-07-30/assets/web-home.png</a:t>
            </a:r>
          </a:p>
          <a:p xmlns:a="http://schemas.openxmlformats.org/drawingml/2006/main">
            <a:r>
              <a:t>- /Users/ivan/Desktop/Developer:YouNew/YouNew/release-artifacts/presentation-2026-07-30/assets/admin-dashboard.png</a:t>
            </a:r>
          </a:p>
          <a:p xmlns:a="http://schemas.openxmlformats.org/drawingml/2006/main">
            <a:r>
              <a:t>- /Users/ivan/Desktop/Developer:YouNew/YouNew/release-artifacts/presentation-2026-07-30/assets/workspace-overview.png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/Users/ivan/Desktop/Developer:YouNew/YouNew/release-artifacts/sale-readiness-2026-07-30/verification-summary.json</a:t>
            </a:r>
          </a:p>
          <a:p xmlns:a="http://schemas.openxmlformats.org/drawingml/2006/main">
            <a:r>
              <a:t>- 106 = 83 public web tests + 10 Admin tests + 13 backend AI proxy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/Users/ivan/Desktop/Developer:YouNew/YouNew/docs/SYSTEM_MAP.md</a:t>
            </a:r>
          </a:p>
          <a:p xmlns:a="http://schemas.openxmlformats.org/drawingml/2006/main">
            <a:r>
              <a:t>- /Users/ivan/Desktop/Developer:YouNew/YouNew/docs/COMPLIANCE_CONTROL_MATRIX.md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/Users/ivan/Desktop/Developer:YouNew/YouNew/release-artifacts/sale-readiness-2026-07-30/verification-summary.json</a:t>
            </a:r>
          </a:p>
          <a:p xmlns:a="http://schemas.openxmlformats.org/drawingml/2006/main">
            <a:r>
              <a:t>- /Users/ivan/Desktop/Developer:YouNew/YouNew/RELEASE_READINESS_2026-07-30.md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66eb34f6544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72b03b1da94c1b" /><Relationship Type="http://schemas.openxmlformats.org/officeDocument/2006/relationships/slideLayout" Target="/ppt/slideLayouts/slideLayout1.xml" Id="R749b278217aa4a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9b278217aa4a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aed7bf2b9430d" /><Relationship Type="http://schemas.openxmlformats.org/officeDocument/2006/relationships/image" Target="/ppt/media/image.png" Id="R4dce74f6fa1d4b52" /><Relationship Type="http://schemas.openxmlformats.org/officeDocument/2006/relationships/image" Target="/ppt/media/image.jpeg" Id="Rca6993833f6a400a" /><Relationship Type="http://schemas.openxmlformats.org/officeDocument/2006/relationships/notesSlide" Target="/ppt/notesSlides/notesSlide1.xml" Id="R883325c4a66d4f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74836181b4d99" /><Relationship Type="http://schemas.openxmlformats.org/officeDocument/2006/relationships/image" Target="/ppt/media/image2.png" Id="Re554f2f1b19b4afc" /><Relationship Type="http://schemas.openxmlformats.org/officeDocument/2006/relationships/image" Target="/ppt/media/image2.jpeg" Id="R009c078c5dc14454" /><Relationship Type="http://schemas.openxmlformats.org/officeDocument/2006/relationships/image" Target="/ppt/media/image3.jpeg" Id="R11e2c872ab434735" /><Relationship Type="http://schemas.openxmlformats.org/officeDocument/2006/relationships/image" Target="/ppt/media/image4.jpeg" Id="R9bdebac2f3c34362" /><Relationship Type="http://schemas.openxmlformats.org/officeDocument/2006/relationships/notesSlide" Target="/ppt/notesSlides/notesSlide2.xml" Id="Rde63e19e1eb840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a23a8a68743d6" /><Relationship Type="http://schemas.openxmlformats.org/officeDocument/2006/relationships/image" Target="/ppt/media/image5.jpeg" Id="R7754a4ea3c8943ee" /><Relationship Type="http://schemas.openxmlformats.org/officeDocument/2006/relationships/notesSlide" Target="/ppt/notesSlides/notesSlide3.xml" Id="Rc9dc71951ba248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e8aee37234f00" /><Relationship Type="http://schemas.openxmlformats.org/officeDocument/2006/relationships/notesSlide" Target="/ppt/notesSlides/notesSlide4.xml" Id="R005c5bb26e2046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2d39bd84046ca" /><Relationship Type="http://schemas.openxmlformats.org/officeDocument/2006/relationships/notesSlide" Target="/ppt/notesSlides/notesSlide5.xml" Id="R45139ef8b40c43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e74f6fa1d4b52"/>
          <a:srcRect xmlns:a="http://schemas.openxmlformats.org/drawingml/2006/main" l="0" t="26903" r="0" b="26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7475" y="12849225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" name="eyebrow-Product showcase · Release candidate">
            <a:extLst xmlns:a="http://schemas.openxmlformats.org/drawingml/2006/main">
              <a:ext uri="{FF2B5EF4-FFF2-40B4-BE49-F238E27FC236}">
                <a16:creationId xmlns:a16="http://schemas.microsoft.com/office/drawing/2014/main" id="{E5CE858F-A665-44BF-A3D9-4BEBDFE4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PRODUCT SHOWCASE · RELEASE CANDIDATE</a:t>
            </a:r>
          </a:p>
        </p:txBody>
      </p:sp>
      <p:sp>
        <p:nvSpPr>
          <p:cNvPr id="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3D72DB8B-E05F-4A1D-AB7A-581F871A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YouNew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4AA8F91-F3A2-41BD-A139-73FDDDA4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57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64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A working ecosystem</a:t>
            </a:r>
          </a:p>
          <a:p xmlns:a="http://schemas.openxmlformats.org/drawingml/2006/main">
            <a:pPr algn="l">
              <a:defRPr sz="64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64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for a clearer start.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7914993-C30A-4574-B30E-6F9EE1E8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iOS · Web · Admin · Supabase · AI · Workspace</a:t>
            </a:r>
          </a:p>
        </p:txBody>
      </p:sp>
      <p:sp>
        <p:nvSpPr>
          <p:cNvPr id="6" name="cover-web-frame">
            <a:extLst xmlns:a="http://schemas.openxmlformats.org/drawingml/2006/main">
              <a:ext uri="{FF2B5EF4-FFF2-40B4-BE49-F238E27FC236}">
                <a16:creationId xmlns:a16="http://schemas.microsoft.com/office/drawing/2014/main" id="{C7B4FAE4-0F6A-473C-9DEA-7DA2CBA7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8953500" cy="4972050"/>
          </a:xfrm>
          <a:prstGeom xmlns:a="http://schemas.openxmlformats.org/drawingml/2006/main" prst="roundRect">
            <a:avLst>
              <a:gd name="adj" fmla="val 6130"/>
            </a:avLst>
          </a:prstGeom>
          <a:solidFill xmlns:a="http://schemas.openxmlformats.org/drawingml/2006/main">
            <a:srgbClr val="1A253C"/>
          </a:solidFill>
          <a:ln xmlns:a="http://schemas.openxmlformats.org/drawingml/2006/main" w="19050">
            <a:solidFill>
              <a:srgbClr val="2A3651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993833f6a400a"/>
          <a:srcRect xmlns:a="http://schemas.openxmlformats.org/drawingml/2006/main" l="0" t="1149" r="0" b="11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6286500"/>
            <a:ext cx="8839200" cy="4857750"/>
          </a:xfrm>
          <a:prstGeom xmlns:a="http://schemas.openxmlformats.org/drawingml/2006/main" prst="roundRect">
            <a:avLst>
              <a:gd name="adj" fmla="val 5490"/>
            </a:avLst>
          </a:prstGeom>
        </p:spPr>
      </p:pic>
      <p:sp>
        <p:nvSpPr>
          <p:cNvPr id="8" name="cover-proof">
            <a:extLst xmlns:a="http://schemas.openxmlformats.org/drawingml/2006/main">
              <a:ext uri="{FF2B5EF4-FFF2-40B4-BE49-F238E27FC236}">
                <a16:creationId xmlns:a16="http://schemas.microsoft.com/office/drawing/2014/main" id="{8715587F-9721-4C79-A418-1956DE8A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572750"/>
            <a:ext cx="6572250" cy="704850"/>
          </a:xfrm>
          <a:prstGeom xmlns:a="http://schemas.openxmlformats.org/drawingml/2006/main" prst="roundRect">
            <a:avLst>
              <a:gd name="adj" fmla="val 29730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19050">
            <a:solidFill>
              <a:srgbClr val="62C9D8"/>
            </a:solidFill>
            <a:prstDash val="solid"/>
          </a:ln>
        </p:spPr>
      </p:sp>
      <p:sp>
        <p:nvSpPr>
          <p:cNvPr id="9" name="cover-proof-text">
            <a:extLst xmlns:a="http://schemas.openxmlformats.org/drawingml/2006/main">
              <a:ext uri="{FF2B5EF4-FFF2-40B4-BE49-F238E27FC236}">
                <a16:creationId xmlns:a16="http://schemas.microsoft.com/office/drawing/2014/main" id="{611B73CD-DDCD-4561-9C87-DC9623D1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08013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LIVE WEB · PUBLIC APP · AUTHENTICATED ADMIN</a:t>
            </a:r>
          </a:p>
        </p:txBody>
      </p:sp>
      <p:sp>
        <p:nvSpPr>
          <p:cNvPr id="10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09F20FE0-985F-451E-8314-9534571B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1"/>
          </a:solidFill>
          <a:ln xmlns:a="http://schemas.openxmlformats.org/drawingml/2006/main" w="0">
            <a:solidFill>
              <a:srgbClr val="2A3651"/>
            </a:solidFill>
            <a:prstDash val="solid"/>
          </a:ln>
        </p:spPr>
      </p:sp>
      <p:sp>
        <p:nvSpPr>
          <p:cNvPr id="11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303E2857-1008-420B-A343-153B6841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F8B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F8BA3"/>
                </a:solidFill>
                <a:latin typeface="Aptos"/>
                <a:ea typeface="Aptos"/>
                <a:cs typeface="Aptos"/>
              </a:rPr>
              <a:t>YouNew · Product ecosystem</a:t>
            </a:r>
          </a:p>
        </p:txBody>
      </p:sp>
      <p:sp>
        <p:nvSpPr>
          <p:cNvPr id="12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24BD7600-1D5D-4D83-BAEE-7B0A151B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1920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F8BA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8BA3"/>
                </a:solidFill>
                <a:latin typeface="Aptos"/>
                <a:ea typeface="Aptos"/>
                <a:cs typeface="Aptos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1854563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One connected product">
            <a:extLst xmlns:a="http://schemas.openxmlformats.org/drawingml/2006/main">
              <a:ext uri="{FF2B5EF4-FFF2-40B4-BE49-F238E27FC236}">
                <a16:creationId xmlns:a16="http://schemas.microsoft.com/office/drawing/2014/main" id="{6D77463F-5BC8-448E-A9FC-115EF4C9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ONE CONNECTED PRODUCT</a:t>
            </a:r>
          </a:p>
        </p:txBody>
      </p:sp>
      <p:sp>
        <p:nvSpPr>
          <p:cNvPr id="2" name="surfaces-title">
            <a:extLst xmlns:a="http://schemas.openxmlformats.org/drawingml/2006/main">
              <a:ext uri="{FF2B5EF4-FFF2-40B4-BE49-F238E27FC236}">
                <a16:creationId xmlns:a16="http://schemas.microsoft.com/office/drawing/2014/main" id="{6A9B2E97-0F86-4EFB-A9C1-D1078F25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Every surface serves</a:t>
            </a:r>
          </a:p>
          <a:p xmlns:a="http://schemas.openxmlformats.org/drawingml/2006/main">
            <a:pPr algn="l">
              <a:defRPr sz="54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the same system.</a:t>
            </a:r>
          </a:p>
        </p:txBody>
      </p:sp>
      <p:sp>
        <p:nvSpPr>
          <p:cNvPr id="3" name="surface-ios-frame">
            <a:extLst xmlns:a="http://schemas.openxmlformats.org/drawingml/2006/main">
              <a:ext uri="{FF2B5EF4-FFF2-40B4-BE49-F238E27FC236}">
                <a16:creationId xmlns:a16="http://schemas.microsoft.com/office/drawing/2014/main" id="{31BDABBC-8E01-44EB-A2FC-8DB000A3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476500" cy="52578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A253C"/>
          </a:solidFill>
          <a:ln xmlns:a="http://schemas.openxmlformats.org/drawingml/2006/main" w="19050">
            <a:solidFill>
              <a:srgbClr val="2A3651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4f2f1b19b4afc"/>
          <a:srcRect xmlns:a="http://schemas.openxmlformats.org/drawingml/2006/main" l="291" t="0" r="2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333750"/>
            <a:ext cx="2362200" cy="5143500"/>
          </a:xfrm>
          <a:prstGeom xmlns:a="http://schemas.openxmlformats.org/drawingml/2006/main" prst="roundRect">
            <a:avLst>
              <a:gd name="adj" fmla="val 11290"/>
            </a:avLst>
          </a:prstGeom>
        </p:spPr>
      </p:pic>
      <p:sp>
        <p:nvSpPr>
          <p:cNvPr id="5" name="surface-web-frame">
            <a:extLst xmlns:a="http://schemas.openxmlformats.org/drawingml/2006/main">
              <a:ext uri="{FF2B5EF4-FFF2-40B4-BE49-F238E27FC236}">
                <a16:creationId xmlns:a16="http://schemas.microsoft.com/office/drawing/2014/main" id="{C248366D-606B-4AD1-8FC4-8E383B14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6343650" cy="3067050"/>
          </a:xfrm>
          <a:prstGeom xmlns:a="http://schemas.openxmlformats.org/drawingml/2006/main" prst="roundRect">
            <a:avLst>
              <a:gd name="adj" fmla="val 9938"/>
            </a:avLst>
          </a:prstGeom>
          <a:solidFill xmlns:a="http://schemas.openxmlformats.org/drawingml/2006/main">
            <a:srgbClr val="1A253C"/>
          </a:solidFill>
          <a:ln xmlns:a="http://schemas.openxmlformats.org/drawingml/2006/main" w="19050">
            <a:solidFill>
              <a:srgbClr val="2A3651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c078c5dc14454"/>
          <a:srcRect xmlns:a="http://schemas.openxmlformats.org/drawingml/2006/main" l="0" t="7866" r="0" b="7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1850" y="3333750"/>
            <a:ext cx="6229350" cy="2952750"/>
          </a:xfrm>
          <a:prstGeom xmlns:a="http://schemas.openxmlformats.org/drawingml/2006/main" prst="roundRect">
            <a:avLst>
              <a:gd name="adj" fmla="val 9032"/>
            </a:avLst>
          </a:prstGeom>
        </p:spPr>
      </p:pic>
      <p:sp>
        <p:nvSpPr>
          <p:cNvPr id="7" name="surface-admin-frame">
            <a:extLst xmlns:a="http://schemas.openxmlformats.org/drawingml/2006/main">
              <a:ext uri="{FF2B5EF4-FFF2-40B4-BE49-F238E27FC236}">
                <a16:creationId xmlns:a16="http://schemas.microsoft.com/office/drawing/2014/main" id="{FF150F7B-7761-4850-A7F3-00FAA80E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67500"/>
            <a:ext cx="3105150" cy="3105150"/>
          </a:xfrm>
          <a:prstGeom xmlns:a="http://schemas.openxmlformats.org/drawingml/2006/main" prst="roundRect">
            <a:avLst>
              <a:gd name="adj" fmla="val 9816"/>
            </a:avLst>
          </a:prstGeom>
          <a:solidFill xmlns:a="http://schemas.openxmlformats.org/drawingml/2006/main">
            <a:srgbClr val="1A253C"/>
          </a:solidFill>
          <a:ln xmlns:a="http://schemas.openxmlformats.org/drawingml/2006/main" w="19050">
            <a:solidFill>
              <a:srgbClr val="2A3651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2c872ab434735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1850" y="6724650"/>
            <a:ext cx="2990850" cy="2990850"/>
          </a:xfrm>
          <a:prstGeom xmlns:a="http://schemas.openxmlformats.org/drawingml/2006/main" prst="roundRect">
            <a:avLst>
              <a:gd name="adj" fmla="val 8917"/>
            </a:avLst>
          </a:prstGeom>
        </p:spPr>
      </p:pic>
      <p:sp>
        <p:nvSpPr>
          <p:cNvPr id="9" name="surface-workspace-frame">
            <a:extLst xmlns:a="http://schemas.openxmlformats.org/drawingml/2006/main">
              <a:ext uri="{FF2B5EF4-FFF2-40B4-BE49-F238E27FC236}">
                <a16:creationId xmlns:a16="http://schemas.microsoft.com/office/drawing/2014/main" id="{5EF32C00-A693-4AB3-982D-E510415F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667500"/>
            <a:ext cx="3105150" cy="3105150"/>
          </a:xfrm>
          <a:prstGeom xmlns:a="http://schemas.openxmlformats.org/drawingml/2006/main" prst="roundRect">
            <a:avLst>
              <a:gd name="adj" fmla="val 9816"/>
            </a:avLst>
          </a:prstGeom>
          <a:solidFill xmlns:a="http://schemas.openxmlformats.org/drawingml/2006/main">
            <a:srgbClr val="1A253C"/>
          </a:solidFill>
          <a:ln xmlns:a="http://schemas.openxmlformats.org/drawingml/2006/main" w="19050">
            <a:solidFill>
              <a:srgbClr val="2A365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ebac2f3c34362"/>
          <a:srcRect xmlns:a="http://schemas.openxmlformats.org/drawingml/2006/main" l="1819" t="0" r="18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0350" y="6724650"/>
            <a:ext cx="2990850" cy="2990850"/>
          </a:xfrm>
          <a:prstGeom xmlns:a="http://schemas.openxmlformats.org/drawingml/2006/main" prst="roundRect">
            <a:avLst>
              <a:gd name="adj" fmla="val 8917"/>
            </a:avLst>
          </a:prstGeom>
        </p:spPr>
      </p:pic>
      <p:sp>
        <p:nvSpPr>
          <p:cNvPr id="11" name="surface-ios-label">
            <a:extLst xmlns:a="http://schemas.openxmlformats.org/drawingml/2006/main">
              <a:ext uri="{FF2B5EF4-FFF2-40B4-BE49-F238E27FC236}">
                <a16:creationId xmlns:a16="http://schemas.microsoft.com/office/drawing/2014/main" id="{42A03382-2AE7-458A-9FF1-3F7E6EB9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582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iOS</a:t>
            </a:r>
          </a:p>
        </p:txBody>
      </p:sp>
      <p:sp>
        <p:nvSpPr>
          <p:cNvPr id="12" name="surface-bottom">
            <a:extLst xmlns:a="http://schemas.openxmlformats.org/drawingml/2006/main">
              <a:ext uri="{FF2B5EF4-FFF2-40B4-BE49-F238E27FC236}">
                <a16:creationId xmlns:a16="http://schemas.microsoft.com/office/drawing/2014/main" id="{B06E3071-8639-4C29-B4D9-5CF75FA4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382250"/>
            <a:ext cx="8724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One identity · one governed data model · one release path</a:t>
            </a:r>
          </a:p>
        </p:txBody>
      </p:sp>
      <p:sp>
        <p:nvSpPr>
          <p:cNvPr id="1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2DB10427-8FFF-4627-95AC-1180AC3C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1"/>
          </a:solidFill>
          <a:ln xmlns:a="http://schemas.openxmlformats.org/drawingml/2006/main" w="0">
            <a:solidFill>
              <a:srgbClr val="2A3651"/>
            </a:solidFill>
            <a:prstDash val="solid"/>
          </a:ln>
        </p:spPr>
      </p:sp>
      <p:sp>
        <p:nvSpPr>
          <p:cNvPr id="14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794A2D64-93D2-48B7-9E35-C1E39C55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F8B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F8BA3"/>
                </a:solidFill>
                <a:latin typeface="Aptos"/>
                <a:ea typeface="Aptos"/>
                <a:cs typeface="Aptos"/>
              </a:rPr>
              <a:t>YouNew · Product ecosystem</a:t>
            </a:r>
          </a:p>
        </p:txBody>
      </p:sp>
      <p:sp>
        <p:nvSpPr>
          <p:cNvPr id="1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2DED9F6-713A-4F41-A1CD-E969F657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1920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F8BA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8BA3"/>
                </a:solidFill>
                <a:latin typeface="Aptos"/>
                <a:ea typeface="Aptos"/>
                <a:cs typeface="Aptos"/>
              </a:rP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117760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Live product · verified evidence">
            <a:extLst xmlns:a="http://schemas.openxmlformats.org/drawingml/2006/main">
              <a:ext uri="{FF2B5EF4-FFF2-40B4-BE49-F238E27FC236}">
                <a16:creationId xmlns:a16="http://schemas.microsoft.com/office/drawing/2014/main" id="{F08A4FA2-30AC-45C9-AEE0-FE740880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LIVE PRODUCT · VERIFIED EVIDENCE</a:t>
            </a:r>
          </a:p>
        </p:txBody>
      </p:sp>
      <p:sp>
        <p:nvSpPr>
          <p:cNvPr id="2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1CDFC742-1FB0-4DB0-A24B-17A6983B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Quality is visible</a:t>
            </a:r>
          </a:p>
          <a:p xmlns:a="http://schemas.openxmlformats.org/drawingml/2006/main">
            <a:pPr algn="l">
              <a:defRPr sz="55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in the numbers.</a:t>
            </a:r>
          </a:p>
        </p:txBody>
      </p:sp>
      <p:sp>
        <p:nvSpPr>
          <p:cNvPr id="3" name="evidence-web-frame">
            <a:extLst xmlns:a="http://schemas.openxmlformats.org/drawingml/2006/main">
              <a:ext uri="{FF2B5EF4-FFF2-40B4-BE49-F238E27FC236}">
                <a16:creationId xmlns:a16="http://schemas.microsoft.com/office/drawing/2014/main" id="{659F5B4A-2E7D-4DDA-9B5B-F4FAB106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9029700" cy="4591050"/>
          </a:xfrm>
          <a:prstGeom xmlns:a="http://schemas.openxmlformats.org/drawingml/2006/main" prst="roundRect">
            <a:avLst>
              <a:gd name="adj" fmla="val 6639"/>
            </a:avLst>
          </a:prstGeom>
          <a:solidFill xmlns:a="http://schemas.openxmlformats.org/drawingml/2006/main">
            <a:srgbClr val="1A253C"/>
          </a:solidFill>
          <a:ln xmlns:a="http://schemas.openxmlformats.org/drawingml/2006/main" w="19050">
            <a:solidFill>
              <a:srgbClr val="2A365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4a4ea3c8943ee"/>
          <a:srcRect xmlns:a="http://schemas.openxmlformats.org/drawingml/2006/main" l="0" t="5366" r="0" b="5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238500"/>
            <a:ext cx="8915400" cy="4476750"/>
          </a:xfrm>
          <a:prstGeom xmlns:a="http://schemas.openxmlformats.org/drawingml/2006/main" prst="roundRect">
            <a:avLst>
              <a:gd name="adj" fmla="val 5957"/>
            </a:avLst>
          </a:prstGeom>
        </p:spPr>
      </p:pic>
      <p:sp>
        <p:nvSpPr>
          <p:cNvPr id="5" name="metric-routes-value">
            <a:extLst xmlns:a="http://schemas.openxmlformats.org/drawingml/2006/main">
              <a:ext uri="{FF2B5EF4-FFF2-40B4-BE49-F238E27FC236}">
                <a16:creationId xmlns:a16="http://schemas.microsoft.com/office/drawing/2014/main" id="{A8664F00-914D-47B3-A9B0-BA762C52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48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585</a:t>
            </a:r>
          </a:p>
        </p:txBody>
      </p:sp>
      <p:sp>
        <p:nvSpPr>
          <p:cNvPr id="6" name="metric-routes-rule">
            <a:extLst xmlns:a="http://schemas.openxmlformats.org/drawingml/2006/main">
              <a:ext uri="{FF2B5EF4-FFF2-40B4-BE49-F238E27FC236}">
                <a16:creationId xmlns:a16="http://schemas.microsoft.com/office/drawing/2014/main" id="{0B728FFA-1C05-4771-83F5-992D40B3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0115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24"/>
          </a:solidFill>
          <a:ln xmlns:a="http://schemas.openxmlformats.org/drawingml/2006/main" w="0">
            <a:solidFill>
              <a:srgbClr val="F47A24"/>
            </a:solidFill>
            <a:prstDash val="solid"/>
          </a:ln>
        </p:spPr>
      </p:sp>
      <p:sp>
        <p:nvSpPr>
          <p:cNvPr id="7" name="metric-routes-label">
            <a:extLst xmlns:a="http://schemas.openxmlformats.org/drawingml/2006/main">
              <a:ext uri="{FF2B5EF4-FFF2-40B4-BE49-F238E27FC236}">
                <a16:creationId xmlns:a16="http://schemas.microsoft.com/office/drawing/2014/main" id="{E2B17100-B81C-40C1-BE82-1C7174A1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488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static routes</a:t>
            </a:r>
          </a:p>
        </p:txBody>
      </p:sp>
      <p:sp>
        <p:nvSpPr>
          <p:cNvPr id="8" name="metric-index-value">
            <a:extLst xmlns:a="http://schemas.openxmlformats.org/drawingml/2006/main">
              <a:ext uri="{FF2B5EF4-FFF2-40B4-BE49-F238E27FC236}">
                <a16:creationId xmlns:a16="http://schemas.microsoft.com/office/drawing/2014/main" id="{55AB6E74-940A-4E59-A782-8A577285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8248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575</a:t>
            </a:r>
          </a:p>
        </p:txBody>
      </p:sp>
      <p:sp>
        <p:nvSpPr>
          <p:cNvPr id="9" name="metric-index-rule">
            <a:extLst xmlns:a="http://schemas.openxmlformats.org/drawingml/2006/main">
              <a:ext uri="{FF2B5EF4-FFF2-40B4-BE49-F238E27FC236}">
                <a16:creationId xmlns:a16="http://schemas.microsoft.com/office/drawing/2014/main" id="{6ECBB03F-239D-43B5-8BC7-9BCE7E69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920115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C9D8"/>
          </a:solidFill>
          <a:ln xmlns:a="http://schemas.openxmlformats.org/drawingml/2006/main" w="0">
            <a:solidFill>
              <a:srgbClr val="62C9D8"/>
            </a:solidFill>
            <a:prstDash val="solid"/>
          </a:ln>
        </p:spPr>
      </p:sp>
      <p:sp>
        <p:nvSpPr>
          <p:cNvPr id="10" name="metric-index-label">
            <a:extLst xmlns:a="http://schemas.openxmlformats.org/drawingml/2006/main">
              <a:ext uri="{FF2B5EF4-FFF2-40B4-BE49-F238E27FC236}">
                <a16:creationId xmlns:a16="http://schemas.microsoft.com/office/drawing/2014/main" id="{57ECAEBC-C9EB-4BC4-8299-BE643537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94488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indexable URLs</a:t>
            </a:r>
          </a:p>
        </p:txBody>
      </p:sp>
      <p:sp>
        <p:nvSpPr>
          <p:cNvPr id="11" name="metric-published-value">
            <a:extLst xmlns:a="http://schemas.openxmlformats.org/drawingml/2006/main">
              <a:ext uri="{FF2B5EF4-FFF2-40B4-BE49-F238E27FC236}">
                <a16:creationId xmlns:a16="http://schemas.microsoft.com/office/drawing/2014/main" id="{6DF05837-C341-4164-9B17-0595FF2F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8248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186</a:t>
            </a:r>
          </a:p>
        </p:txBody>
      </p:sp>
      <p:sp>
        <p:nvSpPr>
          <p:cNvPr id="12" name="metric-published-rule">
            <a:extLst xmlns:a="http://schemas.openxmlformats.org/drawingml/2006/main">
              <a:ext uri="{FF2B5EF4-FFF2-40B4-BE49-F238E27FC236}">
                <a16:creationId xmlns:a16="http://schemas.microsoft.com/office/drawing/2014/main" id="{30BC7558-A39D-4B71-B4FD-7F08364B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920115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D58B"/>
          </a:solidFill>
          <a:ln xmlns:a="http://schemas.openxmlformats.org/drawingml/2006/main" w="0">
            <a:solidFill>
              <a:srgbClr val="3FD58B"/>
            </a:solidFill>
            <a:prstDash val="solid"/>
          </a:ln>
        </p:spPr>
      </p:sp>
      <p:sp>
        <p:nvSpPr>
          <p:cNvPr id="13" name="metric-published-label">
            <a:extLst xmlns:a="http://schemas.openxmlformats.org/drawingml/2006/main">
              <a:ext uri="{FF2B5EF4-FFF2-40B4-BE49-F238E27FC236}">
                <a16:creationId xmlns:a16="http://schemas.microsoft.com/office/drawing/2014/main" id="{ED2CD342-76D7-4FE5-BAF0-8AAF26B4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94488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published records</a:t>
            </a:r>
          </a:p>
        </p:txBody>
      </p:sp>
      <p:sp>
        <p:nvSpPr>
          <p:cNvPr id="14" name="metric-tests-value">
            <a:extLst xmlns:a="http://schemas.openxmlformats.org/drawingml/2006/main">
              <a:ext uri="{FF2B5EF4-FFF2-40B4-BE49-F238E27FC236}">
                <a16:creationId xmlns:a16="http://schemas.microsoft.com/office/drawing/2014/main" id="{C893499C-0F8A-41FC-9D4E-0F6ACC91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8248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106</a:t>
            </a:r>
          </a:p>
        </p:txBody>
      </p:sp>
      <p:sp>
        <p:nvSpPr>
          <p:cNvPr id="15" name="metric-tests-rule">
            <a:extLst xmlns:a="http://schemas.openxmlformats.org/drawingml/2006/main">
              <a:ext uri="{FF2B5EF4-FFF2-40B4-BE49-F238E27FC236}">
                <a16:creationId xmlns:a16="http://schemas.microsoft.com/office/drawing/2014/main" id="{DCBD2BD9-F83B-430C-A4EB-1157E5CA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20115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F4B860"/>
            </a:solidFill>
            <a:prstDash val="solid"/>
          </a:ln>
        </p:spPr>
      </p:sp>
      <p:sp>
        <p:nvSpPr>
          <p:cNvPr id="16" name="metric-tests-label">
            <a:extLst xmlns:a="http://schemas.openxmlformats.org/drawingml/2006/main">
              <a:ext uri="{FF2B5EF4-FFF2-40B4-BE49-F238E27FC236}">
                <a16:creationId xmlns:a16="http://schemas.microsoft.com/office/drawing/2014/main" id="{AD015EC3-81A0-4762-B6E9-DFE6A387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4488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passing web / admin / AI tests</a:t>
            </a:r>
          </a:p>
        </p:txBody>
      </p:sp>
      <p:sp>
        <p:nvSpPr>
          <p:cNvPr id="17" name="evidence-pass">
            <a:extLst xmlns:a="http://schemas.openxmlformats.org/drawingml/2006/main">
              <a:ext uri="{FF2B5EF4-FFF2-40B4-BE49-F238E27FC236}">
                <a16:creationId xmlns:a16="http://schemas.microsoft.com/office/drawing/2014/main" id="{CCD2704A-3E2B-49B1-AF25-B78927B6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8915400" cy="781050"/>
          </a:xfrm>
          <a:prstGeom xmlns:a="http://schemas.openxmlformats.org/drawingml/2006/main" prst="roundRect">
            <a:avLst>
              <a:gd name="adj" fmla="val 26829"/>
            </a:avLst>
          </a:prstGeom>
          <a:solidFill xmlns:a="http://schemas.openxmlformats.org/drawingml/2006/main">
            <a:srgbClr val="1A253C"/>
          </a:solidFill>
          <a:ln xmlns:a="http://schemas.openxmlformats.org/drawingml/2006/main" w="19050">
            <a:solidFill>
              <a:srgbClr val="3FD58B"/>
            </a:solidFill>
            <a:prstDash val="solid"/>
          </a:ln>
        </p:spPr>
      </p:sp>
      <p:sp>
        <p:nvSpPr>
          <p:cNvPr id="18" name="evidence-pass-text">
            <a:extLst xmlns:a="http://schemas.openxmlformats.org/drawingml/2006/main">
              <a:ext uri="{FF2B5EF4-FFF2-40B4-BE49-F238E27FC236}">
                <a16:creationId xmlns:a16="http://schemas.microsoft.com/office/drawing/2014/main" id="{14FD6161-50DF-49BF-AD11-17A7484D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0966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FD58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FD58B"/>
                </a:solidFill>
                <a:latin typeface="Aptos"/>
                <a:ea typeface="Aptos"/>
                <a:cs typeface="Aptos"/>
              </a:rPr>
              <a:t>LIVE SMOKE TEST: PASS · PREDEPLOY: PASS</a:t>
            </a:r>
          </a:p>
        </p:txBody>
      </p:sp>
      <p:sp>
        <p:nvSpPr>
          <p:cNvPr id="19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8CC56B13-B9CC-41F1-9956-47779782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1"/>
          </a:solidFill>
          <a:ln xmlns:a="http://schemas.openxmlformats.org/drawingml/2006/main" w="0">
            <a:solidFill>
              <a:srgbClr val="2A3651"/>
            </a:solidFill>
            <a:prstDash val="solid"/>
          </a:ln>
        </p:spPr>
      </p:sp>
      <p:sp>
        <p:nvSpPr>
          <p:cNvPr id="20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A0ACDE5B-808C-4D98-9416-5B6B3E40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F8B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F8BA3"/>
                </a:solidFill>
                <a:latin typeface="Aptos"/>
                <a:ea typeface="Aptos"/>
                <a:cs typeface="Aptos"/>
              </a:rPr>
              <a:t>YouNew · Product ecosystem</a:t>
            </a:r>
          </a:p>
        </p:txBody>
      </p:sp>
      <p:sp>
        <p:nvSpPr>
          <p:cNvPr id="21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55A073C9-2559-4133-9330-0399798C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1920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F8BA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8BA3"/>
                </a:solidFill>
                <a:latin typeface="Aptos"/>
                <a:ea typeface="Aptos"/>
                <a:cs typeface="Aptos"/>
              </a:rP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572485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System architecture">
            <a:extLst xmlns:a="http://schemas.openxmlformats.org/drawingml/2006/main">
              <a:ext uri="{FF2B5EF4-FFF2-40B4-BE49-F238E27FC236}">
                <a16:creationId xmlns:a16="http://schemas.microsoft.com/office/drawing/2014/main" id="{4F328364-04D4-45CA-86DE-E4959C3B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139EA3C7-A605-4F6C-AFDD-D61C7B1A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How YouNew works —</a:t>
            </a:r>
          </a:p>
          <a:p xmlns:a="http://schemas.openxmlformats.org/drawingml/2006/main">
            <a:pPr algn="l">
              <a:defRPr sz="55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end to end.</a:t>
            </a:r>
          </a:p>
        </p:txBody>
      </p:sp>
      <p:sp>
        <p:nvSpPr>
          <p:cNvPr id="3" name="flow-1">
            <a:extLst xmlns:a="http://schemas.openxmlformats.org/drawingml/2006/main">
              <a:ext uri="{FF2B5EF4-FFF2-40B4-BE49-F238E27FC236}">
                <a16:creationId xmlns:a16="http://schemas.microsoft.com/office/drawing/2014/main" id="{1BCD86B6-4C48-44CE-8C3F-2C4BF6D4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71950"/>
            <a:ext cx="533400" cy="704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47A24"/>
          </a:solidFill>
          <a:ln xmlns:a="http://schemas.openxmlformats.org/drawingml/2006/main" w="0">
            <a:solidFill>
              <a:srgbClr val="F47A24"/>
            </a:solidFill>
            <a:prstDash val="solid"/>
          </a:ln>
        </p:spPr>
      </p:sp>
      <p:sp>
        <p:nvSpPr>
          <p:cNvPr id="4" name="flow-2">
            <a:extLst xmlns:a="http://schemas.openxmlformats.org/drawingml/2006/main">
              <a:ext uri="{FF2B5EF4-FFF2-40B4-BE49-F238E27FC236}">
                <a16:creationId xmlns:a16="http://schemas.microsoft.com/office/drawing/2014/main" id="{1DC73917-CB26-43F1-9033-3E162F37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191250"/>
            <a:ext cx="533400" cy="704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2C9D8"/>
          </a:solidFill>
          <a:ln xmlns:a="http://schemas.openxmlformats.org/drawingml/2006/main" w="0">
            <a:solidFill>
              <a:srgbClr val="62C9D8"/>
            </a:solidFill>
            <a:prstDash val="solid"/>
          </a:ln>
        </p:spPr>
      </p:sp>
      <p:sp>
        <p:nvSpPr>
          <p:cNvPr id="5" name="flow-3">
            <a:extLst xmlns:a="http://schemas.openxmlformats.org/drawingml/2006/main">
              <a:ext uri="{FF2B5EF4-FFF2-40B4-BE49-F238E27FC236}">
                <a16:creationId xmlns:a16="http://schemas.microsoft.com/office/drawing/2014/main" id="{85736B98-3CBD-4ADE-B4B9-A7BFAFD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8210550"/>
            <a:ext cx="533400" cy="704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D58B"/>
          </a:solidFill>
          <a:ln xmlns:a="http://schemas.openxmlformats.org/drawingml/2006/main" w="0">
            <a:solidFill>
              <a:srgbClr val="3FD58B"/>
            </a:solidFill>
            <a:prstDash val="solid"/>
          </a:ln>
        </p:spPr>
      </p:sp>
      <p:sp>
        <p:nvSpPr>
          <p:cNvPr id="6" name="architecture-source">
            <a:extLst xmlns:a="http://schemas.openxmlformats.org/drawingml/2006/main">
              <a:ext uri="{FF2B5EF4-FFF2-40B4-BE49-F238E27FC236}">
                <a16:creationId xmlns:a16="http://schemas.microsoft.com/office/drawing/2014/main" id="{2760DFC8-0D93-4F38-83B8-1E653A8B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5143500" cy="102870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172036"/>
          </a:solidFill>
          <a:ln xmlns:a="http://schemas.openxmlformats.org/drawingml/2006/main" w="19050">
            <a:solidFill>
              <a:srgbClr val="2A3651"/>
            </a:solidFill>
            <a:prstDash val="solid"/>
          </a:ln>
        </p:spPr>
      </p:sp>
      <p:sp>
        <p:nvSpPr>
          <p:cNvPr id="7" name="architecture-source-text">
            <a:extLst xmlns:a="http://schemas.openxmlformats.org/drawingml/2006/main">
              <a:ext uri="{FF2B5EF4-FFF2-40B4-BE49-F238E27FC236}">
                <a16:creationId xmlns:a16="http://schemas.microsoft.com/office/drawing/2014/main" id="{DEEF4EC7-E33E-4C89-8B36-8B44962A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82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GitHub + CI · YouNew Workspace</a:t>
            </a:r>
          </a:p>
        </p:txBody>
      </p:sp>
      <p:sp>
        <p:nvSpPr>
          <p:cNvPr id="8" name="architecture-admin">
            <a:extLst xmlns:a="http://schemas.openxmlformats.org/drawingml/2006/main">
              <a:ext uri="{FF2B5EF4-FFF2-40B4-BE49-F238E27FC236}">
                <a16:creationId xmlns:a16="http://schemas.microsoft.com/office/drawing/2014/main" id="{BCF4E741-CE53-4CF8-B13F-5B057193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76800"/>
            <a:ext cx="5143500" cy="1314450"/>
          </a:xfrm>
          <a:prstGeom xmlns:a="http://schemas.openxmlformats.org/drawingml/2006/main" prst="roundRect">
            <a:avLst>
              <a:gd name="adj" fmla="val 18841"/>
            </a:avLst>
          </a:prstGeom>
          <a:solidFill xmlns:a="http://schemas.openxmlformats.org/drawingml/2006/main">
            <a:srgbClr val="1A253C"/>
          </a:solidFill>
          <a:ln xmlns:a="http://schemas.openxmlformats.org/drawingml/2006/main" w="19050">
            <a:solidFill>
              <a:srgbClr val="62C9D8"/>
            </a:solidFill>
            <a:prstDash val="solid"/>
          </a:ln>
        </p:spPr>
      </p:sp>
      <p:sp>
        <p:nvSpPr>
          <p:cNvPr id="9" name="architecture-admin-title">
            <a:extLst xmlns:a="http://schemas.openxmlformats.org/drawingml/2006/main">
              <a:ext uri="{FF2B5EF4-FFF2-40B4-BE49-F238E27FC236}">
                <a16:creationId xmlns:a16="http://schemas.microsoft.com/office/drawing/2014/main" id="{0C8DE533-0DD9-4FDF-94F1-B7E1B6EB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054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0" name="architecture-admin-copy">
            <a:extLst xmlns:a="http://schemas.openxmlformats.org/drawingml/2006/main">
              <a:ext uri="{FF2B5EF4-FFF2-40B4-BE49-F238E27FC236}">
                <a16:creationId xmlns:a16="http://schemas.microsoft.com/office/drawing/2014/main" id="{93B33F62-BEE9-4D8F-9D82-00DD25C7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38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content · quality · review · release</a:t>
            </a:r>
          </a:p>
        </p:txBody>
      </p:sp>
      <p:sp>
        <p:nvSpPr>
          <p:cNvPr id="11" name="architecture-data">
            <a:extLst xmlns:a="http://schemas.openxmlformats.org/drawingml/2006/main">
              <a:ext uri="{FF2B5EF4-FFF2-40B4-BE49-F238E27FC236}">
                <a16:creationId xmlns:a16="http://schemas.microsoft.com/office/drawing/2014/main" id="{12529E9D-EC12-49DA-8AD9-14689C5F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896100"/>
            <a:ext cx="5143500" cy="1314450"/>
          </a:xfrm>
          <a:prstGeom xmlns:a="http://schemas.openxmlformats.org/drawingml/2006/main" prst="roundRect">
            <a:avLst>
              <a:gd name="adj" fmla="val 18841"/>
            </a:avLst>
          </a:prstGeom>
          <a:solidFill xmlns:a="http://schemas.openxmlformats.org/drawingml/2006/main">
            <a:srgbClr val="1A253C"/>
          </a:solidFill>
          <a:ln xmlns:a="http://schemas.openxmlformats.org/drawingml/2006/main" w="19050">
            <a:solidFill>
              <a:srgbClr val="3FD58B"/>
            </a:solidFill>
            <a:prstDash val="solid"/>
          </a:ln>
        </p:spPr>
      </p:sp>
      <p:sp>
        <p:nvSpPr>
          <p:cNvPr id="12" name="architecture-data-title">
            <a:extLst xmlns:a="http://schemas.openxmlformats.org/drawingml/2006/main">
              <a:ext uri="{FF2B5EF4-FFF2-40B4-BE49-F238E27FC236}">
                <a16:creationId xmlns:a16="http://schemas.microsoft.com/office/drawing/2014/main" id="{ACFDEB03-69FA-44D2-A6BC-F668F1E6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247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FD58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FD58B"/>
                </a:solidFill>
                <a:latin typeface="Aptos"/>
                <a:ea typeface="Aptos"/>
                <a:cs typeface="Aptos"/>
              </a:rPr>
              <a:t>Supabase</a:t>
            </a:r>
          </a:p>
        </p:txBody>
      </p:sp>
      <p:sp>
        <p:nvSpPr>
          <p:cNvPr id="13" name="architecture-data-copy">
            <a:extLst xmlns:a="http://schemas.openxmlformats.org/drawingml/2006/main">
              <a:ext uri="{FF2B5EF4-FFF2-40B4-BE49-F238E27FC236}">
                <a16:creationId xmlns:a16="http://schemas.microsoft.com/office/drawing/2014/main" id="{A5013C15-E0CD-48EC-87A2-783C2FFE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65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06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Postgres · RLS · Edge Functions · AI context</a:t>
            </a:r>
          </a:p>
        </p:txBody>
      </p:sp>
      <p:sp>
        <p:nvSpPr>
          <p:cNvPr id="14" name="architecture-product">
            <a:extLst xmlns:a="http://schemas.openxmlformats.org/drawingml/2006/main">
              <a:ext uri="{FF2B5EF4-FFF2-40B4-BE49-F238E27FC236}">
                <a16:creationId xmlns:a16="http://schemas.microsoft.com/office/drawing/2014/main" id="{EFA5575E-E133-4583-9DF0-6DE683AA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915400"/>
            <a:ext cx="6858000" cy="1504950"/>
          </a:xfrm>
          <a:prstGeom xmlns:a="http://schemas.openxmlformats.org/drawingml/2006/main" prst="roundRect">
            <a:avLst>
              <a:gd name="adj" fmla="val 17722"/>
            </a:avLst>
          </a:prstGeom>
          <a:solidFill xmlns:a="http://schemas.openxmlformats.org/drawingml/2006/main">
            <a:srgbClr val="1A253C"/>
          </a:solidFill>
          <a:ln xmlns:a="http://schemas.openxmlformats.org/drawingml/2006/main" w="19050">
            <a:solidFill>
              <a:srgbClr val="F47A24"/>
            </a:solidFill>
            <a:prstDash val="solid"/>
          </a:ln>
        </p:spPr>
      </p:sp>
      <p:sp>
        <p:nvSpPr>
          <p:cNvPr id="15" name="architecture-product-title">
            <a:extLst xmlns:a="http://schemas.openxmlformats.org/drawingml/2006/main">
              <a:ext uri="{FF2B5EF4-FFF2-40B4-BE49-F238E27FC236}">
                <a16:creationId xmlns:a16="http://schemas.microsoft.com/office/drawing/2014/main" id="{82676F7B-530C-46AC-BA1A-EEE2B3ED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2011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Public Web + iOS</a:t>
            </a:r>
          </a:p>
        </p:txBody>
      </p:sp>
      <p:sp>
        <p:nvSpPr>
          <p:cNvPr id="16" name="architecture-product-copy">
            <a:extLst xmlns:a="http://schemas.openxmlformats.org/drawingml/2006/main">
              <a:ext uri="{FF2B5EF4-FFF2-40B4-BE49-F238E27FC236}">
                <a16:creationId xmlns:a16="http://schemas.microsoft.com/office/drawing/2014/main" id="{B7F03CCF-F4E7-470F-8DAC-A50FAA68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8107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44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AB4C8"/>
                </a:solidFill>
                <a:latin typeface="Aptos"/>
                <a:ea typeface="Aptos"/>
                <a:cs typeface="Aptos"/>
              </a:rPr>
              <a:t>discover · guides · map · search · save · source verification</a:t>
            </a:r>
          </a:p>
        </p:txBody>
      </p:sp>
      <p:sp>
        <p:nvSpPr>
          <p:cNvPr id="17" name="architecture-feedback">
            <a:extLst xmlns:a="http://schemas.openxmlformats.org/drawingml/2006/main">
              <a:ext uri="{FF2B5EF4-FFF2-40B4-BE49-F238E27FC236}">
                <a16:creationId xmlns:a16="http://schemas.microsoft.com/office/drawing/2014/main" id="{2EF2506B-5DAE-4DE5-B0C4-885B9025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0763250"/>
            <a:ext cx="6400800" cy="800100"/>
          </a:xfrm>
          <a:prstGeom xmlns:a="http://schemas.openxmlformats.org/drawingml/2006/main" prst="roundRect">
            <a:avLst>
              <a:gd name="adj" fmla="val 26190"/>
            </a:avLst>
          </a:prstGeom>
          <a:solidFill xmlns:a="http://schemas.openxmlformats.org/drawingml/2006/main">
            <a:srgbClr val="172036"/>
          </a:solidFill>
          <a:ln xmlns:a="http://schemas.openxmlformats.org/drawingml/2006/main" w="19050">
            <a:solidFill>
              <a:srgbClr val="62C9D8"/>
            </a:solidFill>
            <a:prstDash val="solid"/>
          </a:ln>
        </p:spPr>
      </p:sp>
      <p:sp>
        <p:nvSpPr>
          <p:cNvPr id="18" name="architecture-feedback-text">
            <a:extLst xmlns:a="http://schemas.openxmlformats.org/drawingml/2006/main">
              <a:ext uri="{FF2B5EF4-FFF2-40B4-BE49-F238E27FC236}">
                <a16:creationId xmlns:a16="http://schemas.microsoft.com/office/drawing/2014/main" id="{D87E8B44-2732-4E4F-8BF9-FB8379AD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1020425"/>
            <a:ext cx="575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Privacy-safe analytics + feedback return to Admin</a:t>
            </a:r>
          </a:p>
        </p:txBody>
      </p:sp>
      <p:sp>
        <p:nvSpPr>
          <p:cNvPr id="1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9060ADD5-8FD0-4D5B-9B53-02EDC115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1"/>
          </a:solidFill>
          <a:ln xmlns:a="http://schemas.openxmlformats.org/drawingml/2006/main" w="0">
            <a:solidFill>
              <a:srgbClr val="2A3651"/>
            </a:solidFill>
            <a:prstDash val="solid"/>
          </a:ln>
        </p:spPr>
      </p:sp>
      <p:sp>
        <p:nvSpPr>
          <p:cNvPr id="20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0D3DEB93-1E5D-488B-8932-DF84B3A5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F8B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F8BA3"/>
                </a:solidFill>
                <a:latin typeface="Aptos"/>
                <a:ea typeface="Aptos"/>
                <a:cs typeface="Aptos"/>
              </a:rPr>
              <a:t>YouNew · Product ecosystem</a:t>
            </a:r>
          </a:p>
        </p:txBody>
      </p:sp>
      <p:sp>
        <p:nvSpPr>
          <p:cNvPr id="2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56F97051-0195-4DB6-B44F-C7D221D8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1920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F8BA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8BA3"/>
                </a:solidFill>
                <a:latin typeface="Aptos"/>
                <a:ea typeface="Aptos"/>
                <a:cs typeface="Aptos"/>
              </a:rPr>
              <a:t>04 / 05</a:t>
            </a:r>
          </a:p>
        </p:txBody>
      </p:sp>
    </p:spTree>
    <p:extLst>
      <p:ext uri="{BB962C8B-B14F-4D97-AF65-F5344CB8AC3E}">
        <p14:creationId xmlns:p14="http://schemas.microsoft.com/office/powerpoint/2010/main" val="946361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Release posture">
            <a:extLst xmlns:a="http://schemas.openxmlformats.org/drawingml/2006/main">
              <a:ext uri="{FF2B5EF4-FFF2-40B4-BE49-F238E27FC236}">
                <a16:creationId xmlns:a16="http://schemas.microsoft.com/office/drawing/2014/main" id="{25536FE1-616D-4E4B-9C96-8CBC6645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RELEASE POSTURE</a:t>
            </a:r>
          </a:p>
        </p:txBody>
      </p:sp>
      <p:sp>
        <p:nvSpPr>
          <p:cNvPr id="2" name="release-title">
            <a:extLst xmlns:a="http://schemas.openxmlformats.org/drawingml/2006/main">
              <a:ext uri="{FF2B5EF4-FFF2-40B4-BE49-F238E27FC236}">
                <a16:creationId xmlns:a16="http://schemas.microsoft.com/office/drawing/2014/main" id="{4E52FC1A-33F0-4F65-9EF6-46CC8C49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Operational today.</a:t>
            </a:r>
          </a:p>
          <a:p xmlns:a="http://schemas.openxmlformats.org/drawingml/2006/main">
            <a:pPr algn="l">
              <a:defRPr sz="54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Evidence before claims.</a:t>
            </a:r>
          </a:p>
        </p:txBody>
      </p:sp>
      <p:sp>
        <p:nvSpPr>
          <p:cNvPr id="3" name="release-score">
            <a:extLst xmlns:a="http://schemas.openxmlformats.org/drawingml/2006/main">
              <a:ext uri="{FF2B5EF4-FFF2-40B4-BE49-F238E27FC236}">
                <a16:creationId xmlns:a16="http://schemas.microsoft.com/office/drawing/2014/main" id="{2DB9AD54-D644-4737-970C-6FF6F12A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47A24"/>
                </a:solidFill>
                <a:latin typeface="Aptos"/>
                <a:ea typeface="Aptos"/>
                <a:cs typeface="Aptos"/>
              </a:defRPr>
            </a:pPr>
            <a:r>
              <a:rPr sz="9300" b="1">
                <a:solidFill>
                  <a:srgbClr val="F47A24"/>
                </a:solidFill>
                <a:latin typeface="Aptos"/>
                <a:ea typeface="Aptos"/>
                <a:cs typeface="Aptos"/>
              </a:rPr>
              <a:t>7.8</a:t>
            </a:r>
          </a:p>
        </p:txBody>
      </p:sp>
      <p:sp>
        <p:nvSpPr>
          <p:cNvPr id="4" name="release-score-label">
            <a:extLst xmlns:a="http://schemas.openxmlformats.org/drawingml/2006/main">
              <a:ext uri="{FF2B5EF4-FFF2-40B4-BE49-F238E27FC236}">
                <a16:creationId xmlns:a16="http://schemas.microsoft.com/office/drawing/2014/main" id="{7EF39157-E43C-4900-A5A2-054E7CB2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technical readiness</a:t>
            </a:r>
          </a:p>
          <a:p xmlns:a="http://schemas.openxmlformats.org/drawingml/2006/main">
            <a:pPr algn="l">
              <a:defRPr sz="2175" b="1">
                <a:solidFill>
                  <a:srgbClr val="AAB4C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AAB4C8"/>
                </a:solidFill>
                <a:latin typeface="Aptos"/>
                <a:ea typeface="Aptos"/>
                <a:cs typeface="Aptos"/>
              </a:rPr>
              <a:t>out of 10</a:t>
            </a:r>
          </a:p>
        </p:txBody>
      </p:sp>
      <p:sp>
        <p:nvSpPr>
          <p:cNvPr id="5" name="release-proven-title">
            <a:extLst xmlns:a="http://schemas.openxmlformats.org/drawingml/2006/main">
              <a:ext uri="{FF2B5EF4-FFF2-40B4-BE49-F238E27FC236}">
                <a16:creationId xmlns:a16="http://schemas.microsoft.com/office/drawing/2014/main" id="{1BC60B3A-D310-4880-BA2C-65BEF9A4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909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FD58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3FD58B"/>
                </a:solidFill>
                <a:latin typeface="Aptos"/>
                <a:ea typeface="Aptos"/>
                <a:cs typeface="Aptos"/>
              </a:rPr>
              <a:t>Already proven</a:t>
            </a:r>
          </a:p>
        </p:txBody>
      </p:sp>
      <p:sp>
        <p:nvSpPr>
          <p:cNvPr id="6" name="release-proven-copy">
            <a:extLst xmlns:a="http://schemas.openxmlformats.org/drawingml/2006/main">
              <a:ext uri="{FF2B5EF4-FFF2-40B4-BE49-F238E27FC236}">
                <a16:creationId xmlns:a16="http://schemas.microsoft.com/office/drawing/2014/main" id="{1A548039-48D0-4F80-9B75-63E62B1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95750"/>
            <a:ext cx="5334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✓ Live public web</a:t>
            </a:r>
          </a:p>
          <a:p xmlns:a="http://schemas.openxmlformats.org/drawingml/2006/main">
            <a:pPr algn="l">
              <a:defRPr sz="2175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✓ Public App Store listing</a:t>
            </a:r>
          </a:p>
          <a:p xmlns:a="http://schemas.openxmlformats.org/drawingml/2006/main">
            <a:pPr algn="l">
              <a:defRPr sz="2175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✓ Authenticated Admin</a:t>
            </a:r>
          </a:p>
          <a:p xmlns:a="http://schemas.openxmlformats.org/drawingml/2006/main">
            <a:pPr algn="l">
              <a:defRPr sz="2175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✓ Healthy Supabase runtime</a:t>
            </a:r>
          </a:p>
          <a:p xmlns:a="http://schemas.openxmlformats.org/drawingml/2006/main">
            <a:pPr algn="l">
              <a:defRPr sz="2175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✓ Successful unsigned Release build</a:t>
            </a:r>
          </a:p>
        </p:txBody>
      </p:sp>
      <p:sp>
        <p:nvSpPr>
          <p:cNvPr id="7" name="release-gates-box">
            <a:extLst xmlns:a="http://schemas.openxmlformats.org/drawingml/2006/main">
              <a:ext uri="{FF2B5EF4-FFF2-40B4-BE49-F238E27FC236}">
                <a16:creationId xmlns:a16="http://schemas.microsoft.com/office/drawing/2014/main" id="{576EA69C-E89C-44B5-89DC-38F39B80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0"/>
            <a:ext cx="8915400" cy="3714750"/>
          </a:xfrm>
          <a:prstGeom xmlns:a="http://schemas.openxmlformats.org/drawingml/2006/main" prst="roundRect">
            <a:avLst>
              <a:gd name="adj" fmla="val 7179"/>
            </a:avLst>
          </a:prstGeom>
          <a:solidFill xmlns:a="http://schemas.openxmlformats.org/drawingml/2006/main">
            <a:srgbClr val="1A253C"/>
          </a:solidFill>
          <a:ln xmlns:a="http://schemas.openxmlformats.org/drawingml/2006/main" w="19050">
            <a:solidFill>
              <a:srgbClr val="F4B860"/>
            </a:solidFill>
            <a:prstDash val="solid"/>
          </a:ln>
        </p:spPr>
      </p:sp>
      <p:sp>
        <p:nvSpPr>
          <p:cNvPr id="8" name="release-gates-title">
            <a:extLst xmlns:a="http://schemas.openxmlformats.org/drawingml/2006/main">
              <a:ext uri="{FF2B5EF4-FFF2-40B4-BE49-F238E27FC236}">
                <a16:creationId xmlns:a16="http://schemas.microsoft.com/office/drawing/2014/main" id="{1D5FE256-BD6E-4F55-97FE-6D48C393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199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B86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4B860"/>
                </a:solidFill>
                <a:latin typeface="Aptos"/>
                <a:ea typeface="Aptos"/>
                <a:cs typeface="Aptos"/>
              </a:rPr>
              <a:t>Final release gates</a:t>
            </a:r>
          </a:p>
        </p:txBody>
      </p:sp>
      <p:sp>
        <p:nvSpPr>
          <p:cNvPr id="9" name="release-gates-copy">
            <a:extLst xmlns:a="http://schemas.openxmlformats.org/drawingml/2006/main">
              <a:ext uri="{FF2B5EF4-FFF2-40B4-BE49-F238E27FC236}">
                <a16:creationId xmlns:a16="http://schemas.microsoft.com/office/drawing/2014/main" id="{5DF17BC3-8CF1-4AE4-90F4-6B3BE3E1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81950"/>
            <a:ext cx="7810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Clean source SHA + green CI</a:t>
            </a:r>
          </a:p>
          <a:p xmlns:a="http://schemas.openxmlformats.org/drawingml/2006/main">
            <a:pPr algn="l">
              <a:defRPr sz="2175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Signed archive + runnable iOS tests</a:t>
            </a:r>
          </a:p>
          <a:p xmlns:a="http://schemas.openxmlformats.org/drawingml/2006/main">
            <a:pPr algn="l">
              <a:defRPr sz="2175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Encrypted backup + isolated restore</a:t>
            </a:r>
          </a:p>
          <a:p xmlns:a="http://schemas.openxmlformats.org/drawingml/2006/main">
            <a:pPr algn="l">
              <a:defRPr sz="2175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Authenticated Admin E2E</a:t>
            </a:r>
          </a:p>
          <a:p xmlns:a="http://schemas.openxmlformats.org/drawingml/2006/main">
            <a:pPr algn="l">
              <a:defRPr sz="2175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• Flagship guides production-ready</a:t>
            </a:r>
          </a:p>
        </p:txBody>
      </p:sp>
      <p:sp>
        <p:nvSpPr>
          <p:cNvPr id="10" name="release-next">
            <a:extLst xmlns:a="http://schemas.openxmlformats.org/drawingml/2006/main">
              <a:ext uri="{FF2B5EF4-FFF2-40B4-BE49-F238E27FC236}">
                <a16:creationId xmlns:a16="http://schemas.microsoft.com/office/drawing/2014/main" id="{1E122630-CF47-44E5-AE2D-64D32586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68050"/>
            <a:ext cx="853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2C9D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2C9D8"/>
                </a:solidFill>
                <a:latin typeface="Aptos"/>
                <a:ea typeface="Aptos"/>
                <a:cs typeface="Aptos"/>
              </a:rPr>
              <a:t>Next milestone: flagship practical guides + clean release identity</a:t>
            </a:r>
          </a:p>
        </p:txBody>
      </p:sp>
      <p:sp>
        <p:nvSpPr>
          <p:cNvPr id="1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57E3C2FC-78B2-48F8-B93B-A6519D8B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1"/>
          </a:solidFill>
          <a:ln xmlns:a="http://schemas.openxmlformats.org/drawingml/2006/main" w="0">
            <a:solidFill>
              <a:srgbClr val="2A3651"/>
            </a:solidFill>
            <a:prstDash val="solid"/>
          </a:ln>
        </p:spPr>
      </p:sp>
      <p:sp>
        <p:nvSpPr>
          <p:cNvPr id="12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05E70709-4EFD-4EA7-B226-4ACDC089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F8B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F8BA3"/>
                </a:solidFill>
                <a:latin typeface="Aptos"/>
                <a:ea typeface="Aptos"/>
                <a:cs typeface="Aptos"/>
              </a:rPr>
              <a:t>YouNew · Product ecosystem</a:t>
            </a:r>
          </a:p>
        </p:txBody>
      </p:sp>
      <p:sp>
        <p:nvSpPr>
          <p:cNvPr id="1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5D3A4D97-02B6-481A-AA45-8945EE5C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1920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F8BA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8BA3"/>
                </a:solidFill>
                <a:latin typeface="Aptos"/>
                <a:ea typeface="Aptos"/>
                <a:cs typeface="Aptos"/>
              </a:rP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1702243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2026-07-30T09:58:21.3880000Z</dcterms:created>
  <dcterms:modified xsi:type="dcterms:W3CDTF">2026-07-30T09:58:21.3880000Z</dcterms:modified>
</coreProperties>
</file>